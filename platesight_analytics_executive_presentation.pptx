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Good morning, leadership team of Dolphin Group of Hotels and Ramoji Film City. In our previous demonstrations, we walked through the physical monitoring station—our edge cameras, certified weighing load cells, and kitchen-facing touchscreen. </a:t>
            </a:r>
          </a:p>
          <a:p/>
          <a:p>
            <a:r>
              <a:t>Today, we are setting physical hardware aside to focus exclusively on the management layer: the PlateSight Analytics Tab. Our core conviction is that food waste data only becomes valuable when it delivers operational visibility, financial understanding, and measurable opportunities for kitchen intervention.</a:t>
            </a:r>
          </a:p>
          <a:p/>
          <a:p>
            <a:r>
              <a:t>TRANSITION:</a:t>
            </a:r>
          </a:p>
          <a:p>
            <a:r>
              <a:t>Let us examine how data flows from hotel operations into this central platform, and how multiple input streams combine into a single authoritative management workflow.</a:t>
            </a:r>
          </a:p>
          <a:p/>
          <a:p>
            <a:r>
              <a:t>CAVEAT &amp; CONTEXT:</a:t>
            </a:r>
          </a:p>
          <a:p>
            <a:r>
              <a:t>The views and screenshots presented today reflect the live implementation at ai.platesight.in/analytics as captured on 9 October 2026. The interface is actively evolving as part of our pilot engagement to align perfectly with Dolphin Group's specific operational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A common misconception in food waste initiatives is that everything must wait for 20 physical scanning machines to be installed across all banquet kitchens. That is not how PlateSight works.</a:t>
            </a:r>
          </a:p>
          <a:p/>
          <a:p>
            <a:r>
              <a:t>PlateSight is built on a hybrid data ingestion model. We recognize that Dolphin Hotels already maintains valuable kitchen logs—such as the Sahara and Sitara daily production, pickup, and wastage Excel sheets. Our platform ingests these historical records directly, applies standardized recipe mapping, and aggregates them into our central intelligence engine.</a:t>
            </a:r>
          </a:p>
          <a:p/>
          <a:p>
            <a:r>
              <a:t>TRANSITION:</a:t>
            </a:r>
          </a:p>
          <a:p>
            <a:r>
              <a:t>Now let us see what leadership actually sees once this data is processed. Let us move to the executive overview and top-level KPI ribbon.</a:t>
            </a:r>
          </a:p>
          <a:p/>
          <a:p>
            <a:r>
              <a:t>CAVEAT:</a:t>
            </a:r>
          </a:p>
          <a:p>
            <a:r>
              <a:t>While spreadsheet ingestion bootstraps immediate baseline visibility, real-time edge hardware provides higher granularity and image-verified audit trails. Both feed the same unified data schema.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When an executive chef or general manager opens PlateSight, the first view they encounter is this top-level KPI ribbon. It answers six fundamental operational questions in five seconds:</a:t>
            </a:r>
          </a:p>
          <a:p/>
          <a:p>
            <a:r>
              <a:t>1. How much food entered the operation? (Total Food Prepared)</a:t>
            </a:r>
          </a:p>
          <a:p>
            <a:r>
              <a:t>2. How much was actually eaten by guests? (Consumption Rate and grams per guest)</a:t>
            </a:r>
          </a:p>
          <a:p>
            <a:r>
              <a:t>3. How much was discarded, and what percentage of production did that represent?</a:t>
            </a:r>
          </a:p>
          <a:p>
            <a:r>
              <a:t>4. What did that discard cost the hotel in rupee ingredient value?</a:t>
            </a:r>
          </a:p>
          <a:p>
            <a:r>
              <a:t>5. How much clean surplus was held, and how much was safely repurposed?</a:t>
            </a:r>
          </a:p>
          <a:p>
            <a:r>
              <a:t>6. Did the kitchen over-buffer preparation relative to planned banquet attendance?</a:t>
            </a:r>
          </a:p>
          <a:p/>
          <a:p>
            <a:r>
              <a:t>TRANSITION:</a:t>
            </a:r>
          </a:p>
          <a:p>
            <a:r>
              <a:t>Notice that we distinguish between leftovers, safe reuse, and true waste. Let us examine the exact culinary lifecycle flow in Slide 4 to understand why this distinction is critical for chef credibility.</a:t>
            </a:r>
          </a:p>
          <a:p/>
          <a:p>
            <a:r>
              <a:t>CAVEAT:</a:t>
            </a:r>
          </a:p>
          <a:p>
            <a:r>
              <a:t>The figures shown on this card represent the live demonstration snapshot. In live deployment, these metrics update continuously based on verified weighments and uploaded shift reports.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In commercial kitchens, nothing creates resistance faster than accusing a culinary team of 'wasting food' when they have simply prepared food that was held cleanly and safely repurposed.</a:t>
            </a:r>
          </a:p>
          <a:p/>
          <a:p>
            <a:r>
              <a:t>PlateSight solves this through strict mass-balance accounting. As shown in this panel, we follow food from Estimated Requirement to Cooked Production, through Service Pickup, into Consumption. Unconsumed food splits into two distinct operational categories:</a:t>
            </a:r>
          </a:p>
          <a:p>
            <a:r>
              <a:t>1. Safe Leftovers (unserved pans held under temperature control in the kitchen).</a:t>
            </a:r>
          </a:p>
          <a:p>
            <a:r>
              <a:t>2. Final Discarded Waste (table plate scrapings and contaminated returns).</a:t>
            </a:r>
          </a:p>
          <a:p/>
          <a:p>
            <a:r>
              <a:t>TRANSITION:</a:t>
            </a:r>
          </a:p>
          <a:p>
            <a:r>
              <a:t>Once this lifecycle data is captured, how do we alert the kitchen to take action? Slide 5 presents the Operational Intelligence and AI Action Plan.</a:t>
            </a:r>
          </a:p>
          <a:p/>
          <a:p>
            <a:r>
              <a:t>CAVEAT:</a:t>
            </a:r>
          </a:p>
          <a:p>
            <a:r>
              <a:t>Safely reused items require logging under hotel temperature-control SOPs. The current interface reflects these categories, supporting verifiable separation between reuse and waste.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Data without action is overhead. Slide 5 shows the 'Operational Intelligence &amp; AI Action Plan' section. Notice how action cards are organized by status filters: Critical, Attention, Performing Well, and Information.</a:t>
            </a:r>
          </a:p>
          <a:p/>
          <a:p>
            <a:r>
              <a:t>Each card follows a rigorous 5-step operational framework:</a:t>
            </a:r>
          </a:p>
          <a:p>
            <a:r>
              <a:t>1. Signal: Identifies the trigger condition.</a:t>
            </a:r>
          </a:p>
          <a:p>
            <a:r>
              <a:t>2. Indication: Pinpoints what the data shows.</a:t>
            </a:r>
          </a:p>
          <a:p>
            <a:r>
              <a:t>3. Investigation: Guides the sous chef where to look.</a:t>
            </a:r>
          </a:p>
          <a:p>
            <a:r>
              <a:t>4. Action: Recommends an immediate kitchen adjustment.</a:t>
            </a:r>
          </a:p>
          <a:p>
            <a:r>
              <a:t>5. Verification: Defines how success will be measured in upcoming services.</a:t>
            </a:r>
          </a:p>
          <a:p/>
          <a:p>
            <a:r>
              <a:t>TRANSITION:</a:t>
            </a:r>
          </a:p>
          <a:p>
            <a:r>
              <a:t>Next, how do we track whether these interventions work over time? Slide 6 examines Daily Operational Trends.</a:t>
            </a:r>
          </a:p>
          <a:p/>
          <a:p>
            <a:r>
              <a:t>CAVEAT:</a:t>
            </a:r>
          </a:p>
          <a:p>
            <a:r>
              <a:t>We explicitly clarify that these recommendations are rules-driven observations based on deterministic hotel parameters. We do not claim an autonomous AI robot is running the kitchen; rather, it is an executive decision-support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In hospitality analytics, gross numbers can deceive. Consider a wedding banquet at Sahara with 1,500 guests that generates 100 kilograms of food waste. That sounds alarming—until you calculate the per-guest rate: only 66 grams per person, which is exceptionally lean.</a:t>
            </a:r>
          </a:p>
          <a:p/>
          <a:p>
            <a:r>
              <a:t>Conversely, a small executive conference of 80 guests generating 30 kilograms represents an unacceptable 375 grams per guest.</a:t>
            </a:r>
          </a:p>
          <a:p/>
          <a:p>
            <a:r>
              <a:t>Slide 6 shows how PlateSight's Daily Trends view allows leadership to toggle between gross kilograms, waste percentage, and normalized grams per guest (g/PAX).</a:t>
            </a:r>
          </a:p>
          <a:p/>
          <a:p>
            <a:r>
              <a:t>TRANSITION:</a:t>
            </a:r>
          </a:p>
          <a:p>
            <a:r>
              <a:t>Now let us break this down further: where does this waste actually happen? Slide 7 examines Meal Shifts and Service Types.</a:t>
            </a:r>
          </a:p>
          <a:p/>
          <a:p>
            <a:r>
              <a:t>CAVEAT:</a:t>
            </a:r>
          </a:p>
          <a:p>
            <a:r>
              <a:t>Accurate guest count (PAX) data is essential for reliable per-guest calculations. Our system syncs PAX from banquet event orders or supervisor inputs.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Telling an executive chef to 'cut waste by 10%' across all kitchens is ineffective and demoralizing. Kitchen teams need surgical operational targets.</a:t>
            </a:r>
          </a:p>
          <a:p/>
          <a:p>
            <a:r>
              <a:t>Slide 7 breaks down performance by Meal Shift and Service Format. Across commercial hotel data—including Dolphin's own properties—Dinner Buffet consistently exhibits the highest waste intensity. Why? Because hotel hospitality standards demand that chafing dishes look full and inviting even for late-arriving guests at 10:30 PM.</a:t>
            </a:r>
          </a:p>
          <a:p/>
          <a:p>
            <a:r>
              <a:t>By contrasting Buffets, Banquets, and À la Carte, PlateSight helps management focus batch-reduction playbooks precisely where the waste is concentrated: the final 45 minutes of dinner buffet replenishment.</a:t>
            </a:r>
          </a:p>
          <a:p/>
          <a:p>
            <a:r>
              <a:t>TRANSITION:</a:t>
            </a:r>
          </a:p>
          <a:p>
            <a:r>
              <a:t>How does this manifest in specific functions? Slide 8 explores Banquet &amp; Event Performance.</a:t>
            </a:r>
          </a:p>
          <a:p/>
          <a:p>
            <a:r>
              <a:t>CAVEAT:</a:t>
            </a:r>
          </a:p>
          <a:p>
            <a:r>
              <a:t>Service type classifications must be tagged consistently in kitchen event orders (BEOs) to ensure clear attribution between banquet functions and restaurant buffets.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Banquets represent the highest-margin and highest-risk sector of hotel F&amp;B. When an event experiences heavy food waste, who is responsible? Is it kitchen over-preparation, or did the client guarantee 500 PAX while only 320 showed up?</a:t>
            </a:r>
          </a:p>
          <a:p/>
          <a:p>
            <a:r>
              <a:t>Slide 8 demonstrates our Banquet Event Performance table. For every single function, we capture the guaranteed PAX, estimated requirements, cooked kilograms, actual consumed volume, leftovers, and final waste cost.</a:t>
            </a:r>
          </a:p>
          <a:p/>
          <a:p>
            <a:r>
              <a:t>Furthermore, management can click 'Configure Thresholds' to set acceptable waste tolerances based on event scale. This creates an objective, data-backed bridge between banquet sales coordinators and executive chefs.</a:t>
            </a:r>
          </a:p>
          <a:p/>
          <a:p>
            <a:r>
              <a:t>TRANSITION:</a:t>
            </a:r>
          </a:p>
          <a:p>
            <a:r>
              <a:t>Now let us zoom into the culinary specifics. Which dishes generate this waste, and when does it spike? Slide 9 presents Dish Rankings and Shift Heatmaps.</a:t>
            </a:r>
          </a:p>
          <a:p/>
          <a:p>
            <a:r>
              <a:t>CAVEAT:</a:t>
            </a:r>
          </a:p>
          <a:p>
            <a:r>
              <a:t>Event records require matching Banquet Event Order (BEO) numbers with kitchen production sheets to achieve full automated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Slide 9 answers the two most actionable questions in culinary operations: 'WHAT is being wasted?' and 'WHEN is it being wasted?'</a:t>
            </a:r>
          </a:p>
          <a:p/>
          <a:p>
            <a:r>
              <a:t>On the left, the Dish Ranking view applies Pareto analysis. Across hundreds of hotel buffet records, we find that chefs do not have a 50-dish waste problem. They have a 4-dish waste problem: Plain Rice, Sambar, Rasam, and Dal. Because these items are inexpensive per kilogram, kitchen prep teams batch cook them in massive 50kg pots without disciplined pacing.</a:t>
            </a:r>
          </a:p>
          <a:p/>
          <a:p>
            <a:r>
              <a:t>On the right, the Shift Intensity Heatmap cross-references meal sessions against days of the week. Management instantly sees whether waste clusters around Sunday night wedding buffets or Friday conference luncheons.</a:t>
            </a:r>
          </a:p>
          <a:p/>
          <a:p>
            <a:r>
              <a:t>TRANSITION:</a:t>
            </a:r>
          </a:p>
          <a:p>
            <a:r>
              <a:t>What does this waste actually mean in rupees and profit margins? Slide 10 presents our Financial Valuation and Savings Simulator.</a:t>
            </a:r>
          </a:p>
          <a:p/>
          <a:p>
            <a:r>
              <a:t>CAVEAT:</a:t>
            </a:r>
          </a:p>
          <a:p>
            <a:r>
              <a:t>Ranking accuracy depends on consistent dish categorization. Recipes with minor naming variations (e.g., 'Plain Rice' vs 'Steamed Rice') are unified during data standardization.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Let us now examine the real financial opportunity using Dolphin's own audited operational data.</a:t>
            </a:r>
          </a:p>
          <a:p/>
          <a:p>
            <a:r>
              <a:t>In the Sahara daily production report for 24 August 2026, lunch recorded 26.2 kg of Plain Rice waste across 1,722 guests. Dinner recorded 29.2 kg across 752 guests. Combined, that is 55.4 kilograms of Plain Rice discarded in a single 24-hour period.</a:t>
            </a:r>
          </a:p>
          <a:p/>
          <a:p>
            <a:r>
              <a:t>In the hotel's raw spreadsheet, this is booked at ~₹20/kg raw rice base rate, yielding ₹1,108 in recorded cost. </a:t>
            </a:r>
          </a:p>
          <a:p/>
          <a:p>
            <a:r>
              <a:t>However, as every F&amp;B director knows, cooked rice does not cost ₹20/kg. When you factor in RO water, cooking gas, kitchen labor, and preparation overhead, fully loaded cooked rice costs approximately ₹40/kg.</a:t>
            </a:r>
          </a:p>
          <a:p/>
          <a:p>
            <a:r>
              <a:t>At ₹40/kg:</a:t>
            </a:r>
          </a:p>
          <a:p>
            <a:r>
              <a:t>• 55.4 kg × ₹40 = ₹2,216 per day in cooked food loss.</a:t>
            </a:r>
          </a:p>
          <a:p>
            <a:r>
              <a:t>• A realistic 50% waste reduction saves 27.7 kg per day = ₹1,108 saved every day.</a:t>
            </a:r>
          </a:p>
          <a:p>
            <a:r>
              <a:t>• Over 30 days, that represents ₹33,240 in recovered margin every month—on a single staple dish at a single property!</a:t>
            </a:r>
          </a:p>
          <a:p/>
          <a:p>
            <a:r>
              <a:t>TRANSITION:</a:t>
            </a:r>
          </a:p>
          <a:p>
            <a:r>
              <a:t>How does executive leadership verify that these figures are real and tamper-resistant? Slide 11 explores Trust, Audit Controls, and Multi-Property Rollout.</a:t>
            </a:r>
          </a:p>
          <a:p/>
          <a:p>
            <a:r>
              <a:t>CAVEAT:</a:t>
            </a:r>
          </a:p>
          <a:p>
            <a:r>
              <a:t>We distinguish recorded source spreadsheet costs (~₹20/kg raw ingredient base) from illustrative fully loaded operational costs (assumed ₹40/kg). The simulator models potential savings to guide hotel operational target-setting.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For an analytics platform to succeed in enterprise hospitality, two stakeholder groups must trust it completely: the finance controller and the culinary team.</a:t>
            </a:r>
          </a:p>
          <a:p/>
          <a:p>
            <a:r>
              <a:t>If chefs feel the system is an inaccurate surveillance tool, they will bypass it. If finance suspects the numbers are unverified, they will not use it for costing.</a:t>
            </a:r>
          </a:p>
          <a:p/>
          <a:p>
            <a:r>
              <a:t>Slide 11 addresses governance directly:</a:t>
            </a:r>
          </a:p>
          <a:p>
            <a:r>
              <a:t>1. Audit Integrity: Every scan stores high-resolution image evidence. Sous chefs have full rights to audit and override dish tags with recorded rationale.</a:t>
            </a:r>
          </a:p>
          <a:p>
            <a:r>
              <a:t>2. Multi-Property Rollout: The architecture is built for Ramoji Film City's full portfolio—Sitara Luxury Hotel, Sahara Banquets, Tara, and Eureka. Management can benchmark kitchen efficiency under identical menu standards.</a:t>
            </a:r>
          </a:p>
          <a:p>
            <a:r>
              <a:t>3. Role-Based Views: The GM sees executive margin impact; the F&amp;B controller audits ingredient variance; the head chef receives actionable batch timing recommendations.</a:t>
            </a:r>
          </a:p>
          <a:p/>
          <a:p>
            <a:r>
              <a:t>TRANSITION:</a:t>
            </a:r>
          </a:p>
          <a:p>
            <a:r>
              <a:t>Let us conclude with the continuous improvement loop and our structured pilot roadmap. Slide 12.</a:t>
            </a:r>
          </a:p>
          <a:p/>
          <a:p>
            <a:r>
              <a:t>CAVEAT:</a:t>
            </a:r>
          </a:p>
          <a:p>
            <a:r>
              <a:t>Role-based permissions and multi-property user access controls are configured during pilot onboarding in collaboration with Dolphin IT and F&amp;B leadership.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NARRATIVE:</a:t>
            </a:r>
          </a:p>
          <a:p>
            <a:r>
              <a:t>Food waste in hospitality operations has historically been treated as an unavoidable cost of doing business. With PlateSight, it becomes a controlled, measurable operational variable.</a:t>
            </a:r>
          </a:p>
          <a:p/>
          <a:p>
            <a:r>
              <a:t>Our philosophy is simple: Measure. Investigate. Adjust. Measure Again.</a:t>
            </a:r>
          </a:p>
          <a:p/>
          <a:p>
            <a:r>
              <a:t>We propose a structured, 60-day pilot engagement with Dolphin Group of Hotels:</a:t>
            </a:r>
          </a:p>
          <a:p>
            <a:r>
              <a:t>• In Weeks 1 and 2, we establish an unadjusted baseline without interfering with kitchen operations.</a:t>
            </a:r>
          </a:p>
          <a:p>
            <a:r>
              <a:t>• In Weeks 3 and 4, we integrate Dolphin's exact ingredient costs and master recipe rates.</a:t>
            </a:r>
          </a:p>
          <a:p>
            <a:r>
              <a:t>• In Weeks 5 and 6, we implement simple staged batch interventions on the top 3 high-waste items (Plain Rice, Sambar).</a:t>
            </a:r>
          </a:p>
          <a:p>
            <a:r>
              <a:t>• In Weeks 7 and 8, we audit the verified rupee savings together with executive leadership and finance.</a:t>
            </a:r>
          </a:p>
          <a:p/>
          <a:p>
            <a:r>
              <a:t>Thank you for your partnership and vision in making hospitality operations smarter and more sustainable.</a:t>
            </a:r>
          </a:p>
          <a:p/>
          <a:p>
            <a:r>
              <a:t>TRANSITION:</a:t>
            </a:r>
          </a:p>
          <a:p>
            <a:r>
              <a:t>We now invite Mr. Ramoji Rao's leadership team, General Managers, and the Executive Culinary Directors to discuss pilot venue selection (Sahara vs Sitara), baseline scheduling, and opening the floor for questions.</a:t>
            </a:r>
          </a:p>
          <a:p/>
          <a:p>
            <a:r>
              <a:t>CAVEAT:</a:t>
            </a:r>
          </a:p>
          <a:p>
            <a:r>
              <a:t>Implementation timeline assumes timely access to daily banquet event orders (BEOs), daily store requisition rate cards, and kitchen cooperation during initial baseline logging. Physical edge stations require standard single-phase 230V power and local Wi-Fi / 4G coverage at the stewarding wash-up area.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16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lide_1_pic_1.png"/>
          <p:cNvPicPr>
            <a:picLocks noChangeAspect="1"/>
          </p:cNvPicPr>
          <p:nvPr/>
        </p:nvPicPr>
        <p:blipFill>
          <a:blip r:embed="rId2"/>
          <a:stretch>
            <a:fillRect/>
          </a:stretch>
        </p:blipFill>
        <p:spPr>
          <a:xfrm>
            <a:off x="777240" y="685800"/>
            <a:ext cx="1097280" cy="886968"/>
          </a:xfrm>
          <a:prstGeom prst="rect">
            <a:avLst/>
          </a:prstGeom>
        </p:spPr>
      </p:pic>
      <p:sp>
        <p:nvSpPr>
          <p:cNvPr id="4" name="Rounded Rectangle 3"/>
          <p:cNvSpPr/>
          <p:nvPr/>
        </p:nvSpPr>
        <p:spPr>
          <a:xfrm>
            <a:off x="777240" y="1874519"/>
            <a:ext cx="3291840" cy="292608"/>
          </a:xfrm>
          <a:prstGeom prst="roundRect">
            <a:avLst/>
          </a:prstGeom>
          <a:solidFill>
            <a:srgbClr val="361C2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79943"/>
                </a:solidFill>
                <a:latin typeface="Calibri"/>
              </a:defRPr>
            </a:pPr>
            <a:r>
              <a:t>EXECUTIVE BRIEFING • ANALYTICS EXPERIENCE</a:t>
            </a:r>
          </a:p>
        </p:txBody>
      </p:sp>
      <p:sp>
        <p:nvSpPr>
          <p:cNvPr id="5" name="TextBox 4"/>
          <p:cNvSpPr txBox="1"/>
          <p:nvPr/>
        </p:nvSpPr>
        <p:spPr>
          <a:xfrm>
            <a:off x="777240" y="2240280"/>
            <a:ext cx="10634472" cy="1280160"/>
          </a:xfrm>
          <a:prstGeom prst="rect">
            <a:avLst/>
          </a:prstGeom>
          <a:noFill/>
        </p:spPr>
        <p:txBody>
          <a:bodyPr wrap="square" lIns="0" tIns="0" rIns="0" bIns="0">
            <a:spAutoFit/>
          </a:bodyPr>
          <a:lstStyle/>
          <a:p>
            <a:pPr>
              <a:defRPr sz="3800" b="1">
                <a:solidFill>
                  <a:srgbClr val="FFFFFF"/>
                </a:solidFill>
                <a:latin typeface="Georgia"/>
              </a:defRPr>
            </a:pPr>
            <a:r>
              <a:t>From Food Waste Data to</a:t>
            </a:r>
          </a:p>
          <a:p>
            <a:pPr>
              <a:spcBef>
                <a:spcPts val="400"/>
              </a:spcBef>
              <a:defRPr sz="3800" b="1">
                <a:solidFill>
                  <a:srgbClr val="FFFFFF"/>
                </a:solidFill>
                <a:latin typeface="Georgia"/>
              </a:defRPr>
            </a:pPr>
            <a:r>
              <a:t>Operational Intelligence</a:t>
            </a:r>
          </a:p>
        </p:txBody>
      </p:sp>
      <p:sp>
        <p:nvSpPr>
          <p:cNvPr id="6" name="TextBox 5"/>
          <p:cNvSpPr txBox="1"/>
          <p:nvPr/>
        </p:nvSpPr>
        <p:spPr>
          <a:xfrm>
            <a:off x="777240" y="3611880"/>
            <a:ext cx="10634472" cy="548640"/>
          </a:xfrm>
          <a:prstGeom prst="rect">
            <a:avLst/>
          </a:prstGeom>
          <a:noFill/>
        </p:spPr>
        <p:txBody>
          <a:bodyPr wrap="square" lIns="0" tIns="0" rIns="0" bIns="0">
            <a:spAutoFit/>
          </a:bodyPr>
          <a:lstStyle/>
          <a:p>
            <a:pPr>
              <a:defRPr sz="1400">
                <a:solidFill>
                  <a:srgbClr val="D8C8CE"/>
                </a:solidFill>
                <a:latin typeface="Calibri"/>
              </a:defRPr>
            </a:pPr>
            <a:r>
              <a:t>PlateSight Analytics Tab: Turning automated waste records into operational visibility, financial understanding, and actionable interventions.</a:t>
            </a:r>
          </a:p>
        </p:txBody>
      </p:sp>
      <p:sp>
        <p:nvSpPr>
          <p:cNvPr id="7" name="Rectangle 6"/>
          <p:cNvSpPr/>
          <p:nvPr/>
        </p:nvSpPr>
        <p:spPr>
          <a:xfrm>
            <a:off x="777240" y="4343400"/>
            <a:ext cx="10634472" cy="9144"/>
          </a:xfrm>
          <a:prstGeom prst="rect">
            <a:avLst/>
          </a:prstGeom>
          <a:solidFill>
            <a:srgbClr val="52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617720"/>
            <a:ext cx="3291840" cy="1280160"/>
          </a:xfrm>
          <a:prstGeom prst="rect">
            <a:avLst/>
          </a:prstGeom>
          <a:noFill/>
        </p:spPr>
        <p:txBody>
          <a:bodyPr wrap="square" lIns="0" tIns="0" rIns="0" bIns="0">
            <a:spAutoFit/>
          </a:bodyPr>
          <a:lstStyle/>
          <a:p>
            <a:pPr>
              <a:defRPr sz="950" b="1">
                <a:solidFill>
                  <a:srgbClr val="C79943"/>
                </a:solidFill>
                <a:latin typeface="Calibri"/>
              </a:defRPr>
            </a:pPr>
            <a:r>
              <a:t>PREPARED FOR</a:t>
            </a:r>
          </a:p>
          <a:p>
            <a:pPr>
              <a:spcBef>
                <a:spcPts val="400"/>
              </a:spcBef>
              <a:defRPr sz="1600" b="1">
                <a:solidFill>
                  <a:srgbClr val="FFFFFF"/>
                </a:solidFill>
                <a:latin typeface="Georgia"/>
              </a:defRPr>
            </a:pPr>
            <a:r>
              <a:t>Dolphin Group of Hotels</a:t>
            </a:r>
          </a:p>
          <a:p>
            <a:pPr>
              <a:spcBef>
                <a:spcPts val="200"/>
              </a:spcBef>
              <a:defRPr sz="1150">
                <a:solidFill>
                  <a:srgbClr val="D8C8CE"/>
                </a:solidFill>
                <a:latin typeface="Calibri"/>
              </a:defRPr>
            </a:pPr>
            <a:r>
              <a:t>Ramoji Film City, Hyderabad</a:t>
            </a:r>
            <a:br/>
            <a:r>
              <a:t>(Sitara • Sahara • Tara • Eureka)</a:t>
            </a:r>
          </a:p>
        </p:txBody>
      </p:sp>
      <p:sp>
        <p:nvSpPr>
          <p:cNvPr id="9" name="TextBox 8"/>
          <p:cNvSpPr txBox="1"/>
          <p:nvPr/>
        </p:nvSpPr>
        <p:spPr>
          <a:xfrm>
            <a:off x="4434840" y="4617720"/>
            <a:ext cx="3291840" cy="1280160"/>
          </a:xfrm>
          <a:prstGeom prst="rect">
            <a:avLst/>
          </a:prstGeom>
          <a:noFill/>
        </p:spPr>
        <p:txBody>
          <a:bodyPr wrap="square" lIns="0" tIns="0" rIns="0" bIns="0">
            <a:spAutoFit/>
          </a:bodyPr>
          <a:lstStyle/>
          <a:p>
            <a:pPr>
              <a:defRPr sz="950" b="1">
                <a:solidFill>
                  <a:srgbClr val="C79943"/>
                </a:solidFill>
                <a:latin typeface="Calibri"/>
              </a:defRPr>
            </a:pPr>
            <a:r>
              <a:t>SCOPE &amp; FOCUS</a:t>
            </a:r>
          </a:p>
          <a:p>
            <a:pPr>
              <a:spcBef>
                <a:spcPts val="400"/>
              </a:spcBef>
              <a:defRPr sz="1600" b="1">
                <a:solidFill>
                  <a:srgbClr val="FFFFFF"/>
                </a:solidFill>
                <a:latin typeface="Georgia"/>
              </a:defRPr>
            </a:pPr>
            <a:r>
              <a:t>Analytics Experience</a:t>
            </a:r>
          </a:p>
          <a:p>
            <a:pPr>
              <a:spcBef>
                <a:spcPts val="200"/>
              </a:spcBef>
              <a:defRPr sz="1150">
                <a:solidFill>
                  <a:srgbClr val="D8C8CE"/>
                </a:solidFill>
                <a:latin typeface="Calibri"/>
              </a:defRPr>
            </a:pPr>
            <a:r>
              <a:t>Centralized Web Management Portal</a:t>
            </a:r>
            <a:br/>
            <a:r>
              <a:t>ai.platesight.in/analytics</a:t>
            </a:r>
          </a:p>
        </p:txBody>
      </p:sp>
      <p:sp>
        <p:nvSpPr>
          <p:cNvPr id="10" name="TextBox 9"/>
          <p:cNvSpPr txBox="1"/>
          <p:nvPr/>
        </p:nvSpPr>
        <p:spPr>
          <a:xfrm>
            <a:off x="8092440" y="4617720"/>
            <a:ext cx="3291840" cy="1280160"/>
          </a:xfrm>
          <a:prstGeom prst="rect">
            <a:avLst/>
          </a:prstGeom>
          <a:noFill/>
        </p:spPr>
        <p:txBody>
          <a:bodyPr wrap="square" lIns="0" tIns="0" rIns="0" bIns="0">
            <a:spAutoFit/>
          </a:bodyPr>
          <a:lstStyle/>
          <a:p>
            <a:pPr>
              <a:defRPr sz="950" b="1">
                <a:solidFill>
                  <a:srgbClr val="C79943"/>
                </a:solidFill>
                <a:latin typeface="Calibri"/>
              </a:defRPr>
            </a:pPr>
            <a:r>
              <a:t>PREPARED BY &amp; DATE</a:t>
            </a:r>
          </a:p>
          <a:p>
            <a:pPr>
              <a:spcBef>
                <a:spcPts val="400"/>
              </a:spcBef>
              <a:defRPr sz="1600" b="1">
                <a:solidFill>
                  <a:srgbClr val="FFFFFF"/>
                </a:solidFill>
                <a:latin typeface="Georgia"/>
              </a:defRPr>
            </a:pPr>
            <a:r>
              <a:t>PlateSight Intelligence</a:t>
            </a:r>
          </a:p>
          <a:p>
            <a:pPr>
              <a:spcBef>
                <a:spcPts val="200"/>
              </a:spcBef>
              <a:defRPr sz="1150">
                <a:solidFill>
                  <a:srgbClr val="D8C8CE"/>
                </a:solidFill>
                <a:latin typeface="Calibri"/>
              </a:defRPr>
            </a:pPr>
            <a:r>
              <a:t>Gandhaar Joshi, Co-Founder</a:t>
            </a:r>
            <a:br/>
            <a:r>
              <a:t>October 2026 Executive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02 / WORKFLOW &amp; INGESTION</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One Analytical Workflow Can Bring Multiple Sources Together</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PlateSight consolidates automated hardware logging, existing kitchen spreadsheets, and manual audits into a single pipeline.</a:t>
            </a:r>
          </a:p>
        </p:txBody>
      </p:sp>
      <p:sp>
        <p:nvSpPr>
          <p:cNvPr id="6" name="Rounded Rectangle 5"/>
          <p:cNvSpPr/>
          <p:nvPr/>
        </p:nvSpPr>
        <p:spPr>
          <a:xfrm>
            <a:off x="777240" y="1965960"/>
            <a:ext cx="512064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1560" y="2194560"/>
            <a:ext cx="1645920" cy="256032"/>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THREE DATA PILLARS</a:t>
            </a:r>
          </a:p>
        </p:txBody>
      </p:sp>
      <p:sp>
        <p:nvSpPr>
          <p:cNvPr id="8" name="TextBox 7"/>
          <p:cNvSpPr txBox="1"/>
          <p:nvPr/>
        </p:nvSpPr>
        <p:spPr>
          <a:xfrm>
            <a:off x="1051560" y="2542032"/>
            <a:ext cx="4572000" cy="365760"/>
          </a:xfrm>
          <a:prstGeom prst="rect">
            <a:avLst/>
          </a:prstGeom>
          <a:noFill/>
        </p:spPr>
        <p:txBody>
          <a:bodyPr wrap="none" lIns="0" tIns="0" rIns="0" bIns="0">
            <a:spAutoFit/>
          </a:bodyPr>
          <a:lstStyle/>
          <a:p>
            <a:pPr>
              <a:defRPr sz="1700" b="1">
                <a:solidFill>
                  <a:srgbClr val="2B161F"/>
                </a:solidFill>
                <a:latin typeface="Georgia"/>
              </a:defRPr>
            </a:pPr>
            <a:r>
              <a:t>Multi-Stream Data Harmonization</a:t>
            </a:r>
          </a:p>
        </p:txBody>
      </p:sp>
      <p:sp>
        <p:nvSpPr>
          <p:cNvPr id="9" name="TextBox 8"/>
          <p:cNvSpPr txBox="1"/>
          <p:nvPr/>
        </p:nvSpPr>
        <p:spPr>
          <a:xfrm>
            <a:off x="1051560" y="2944368"/>
            <a:ext cx="4572000" cy="2926080"/>
          </a:xfrm>
          <a:prstGeom prst="rect">
            <a:avLst/>
          </a:prstGeom>
          <a:noFill/>
        </p:spPr>
        <p:txBody>
          <a:bodyPr wrap="square" lIns="0" tIns="0" rIns="0" bIns="0">
            <a:spAutoFit/>
          </a:bodyPr>
          <a:lstStyle/>
          <a:p>
            <a:pPr>
              <a:defRPr sz="1300" b="1">
                <a:solidFill>
                  <a:srgbClr val="2B161F"/>
                </a:solidFill>
                <a:latin typeface="Georgia"/>
              </a:defRPr>
            </a:pPr>
            <a:r>
              <a:t>01 • AI Vision &amp; Load-Cell Stations</a:t>
            </a:r>
          </a:p>
          <a:p>
            <a:pPr>
              <a:spcBef>
                <a:spcPts val="200"/>
              </a:spcBef>
              <a:defRPr sz="1050">
                <a:solidFill>
                  <a:srgbClr val="5E5550"/>
                </a:solidFill>
                <a:latin typeface="Calibri"/>
              </a:defRPr>
            </a:pPr>
            <a:r>
              <a:t>Edge-computed plate and tray logs provide instant food segmentation and certified kilogram weights without manual kitchen logging.</a:t>
            </a:r>
          </a:p>
          <a:p>
            <a:pPr>
              <a:spcBef>
                <a:spcPts val="1200"/>
              </a:spcBef>
              <a:defRPr sz="1300" b="1">
                <a:solidFill>
                  <a:srgbClr val="2B161F"/>
                </a:solidFill>
                <a:latin typeface="Georgia"/>
              </a:defRPr>
            </a:pPr>
            <a:r>
              <a:t>02 • Kitchen Excel Sheets &amp; ERP</a:t>
            </a:r>
          </a:p>
          <a:p>
            <a:pPr>
              <a:spcBef>
                <a:spcPts val="200"/>
              </a:spcBef>
              <a:defRPr sz="1050">
                <a:solidFill>
                  <a:srgbClr val="5E5550"/>
                </a:solidFill>
                <a:latin typeface="Calibri"/>
              </a:defRPr>
            </a:pPr>
            <a:r>
              <a:t>Automated ingestion of daily kitchen production, pickup, and wastage reports (e.g. Sahara &amp; Sitara daily logs) to establish historical baselines.</a:t>
            </a:r>
          </a:p>
          <a:p>
            <a:pPr>
              <a:spcBef>
                <a:spcPts val="1200"/>
              </a:spcBef>
              <a:defRPr sz="1300" b="1">
                <a:solidFill>
                  <a:srgbClr val="2B161F"/>
                </a:solidFill>
                <a:latin typeface="Georgia"/>
              </a:defRPr>
            </a:pPr>
            <a:r>
              <a:t>03 • Managerial &amp; Audit Overrides</a:t>
            </a:r>
          </a:p>
          <a:p>
            <a:pPr>
              <a:spcBef>
                <a:spcPts val="200"/>
              </a:spcBef>
              <a:defRPr sz="1050">
                <a:solidFill>
                  <a:srgbClr val="5E5550"/>
                </a:solidFill>
                <a:latin typeface="Calibri"/>
              </a:defRPr>
            </a:pPr>
            <a:r>
              <a:t>Authorized supervisor portal to input guaranteed banquet Pax, menu metadata, and food-safety disposition flags.</a:t>
            </a:r>
          </a:p>
        </p:txBody>
      </p:sp>
      <p:sp>
        <p:nvSpPr>
          <p:cNvPr id="10" name="Rounded Rectangle 9"/>
          <p:cNvSpPr/>
          <p:nvPr/>
        </p:nvSpPr>
        <p:spPr>
          <a:xfrm>
            <a:off x="6172200" y="1965960"/>
            <a:ext cx="5239512"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2194560"/>
            <a:ext cx="1920240" cy="256032"/>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THE CENTRAL DATA PIPELINE</a:t>
            </a:r>
          </a:p>
        </p:txBody>
      </p:sp>
      <p:sp>
        <p:nvSpPr>
          <p:cNvPr id="12" name="TextBox 11"/>
          <p:cNvSpPr txBox="1"/>
          <p:nvPr/>
        </p:nvSpPr>
        <p:spPr>
          <a:xfrm>
            <a:off x="6446520" y="2542032"/>
            <a:ext cx="4709160" cy="365760"/>
          </a:xfrm>
          <a:prstGeom prst="rect">
            <a:avLst/>
          </a:prstGeom>
          <a:noFill/>
        </p:spPr>
        <p:txBody>
          <a:bodyPr wrap="none" lIns="0" tIns="0" rIns="0" bIns="0">
            <a:spAutoFit/>
          </a:bodyPr>
          <a:lstStyle/>
          <a:p>
            <a:pPr>
              <a:defRPr sz="1700" b="1">
                <a:solidFill>
                  <a:srgbClr val="2B161F"/>
                </a:solidFill>
                <a:latin typeface="Georgia"/>
              </a:defRPr>
            </a:pPr>
            <a:r>
              <a:t>From Raw Logs to Executive Action</a:t>
            </a:r>
          </a:p>
        </p:txBody>
      </p:sp>
      <p:sp>
        <p:nvSpPr>
          <p:cNvPr id="13" name="Rounded Rectangle 12"/>
          <p:cNvSpPr/>
          <p:nvPr/>
        </p:nvSpPr>
        <p:spPr>
          <a:xfrm>
            <a:off x="6446520" y="2944368"/>
            <a:ext cx="4709160" cy="585216"/>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962656"/>
            <a:ext cx="4526280" cy="530352"/>
          </a:xfrm>
          <a:prstGeom prst="rect">
            <a:avLst/>
          </a:prstGeom>
          <a:noFill/>
        </p:spPr>
        <p:txBody>
          <a:bodyPr wrap="square" lIns="0" tIns="0" rIns="0" bIns="0">
            <a:spAutoFit/>
          </a:bodyPr>
          <a:lstStyle/>
          <a:p>
            <a:pPr>
              <a:defRPr sz="1100" b="1">
                <a:solidFill>
                  <a:srgbClr val="2B161F"/>
                </a:solidFill>
                <a:latin typeface="Calibri"/>
              </a:defRPr>
            </a:pPr>
            <a:r>
              <a:t>Step 1: Standardization &amp; Unit Normalization</a:t>
            </a:r>
          </a:p>
          <a:p>
            <a:pPr>
              <a:defRPr sz="950">
                <a:solidFill>
                  <a:srgbClr val="5E5550"/>
                </a:solidFill>
                <a:latin typeface="Calibri"/>
              </a:defRPr>
            </a:pPr>
            <a:r>
              <a:t>Normalizes diverse kitchen units (kg, portions, pans) and maps raw food labels to standardized hotel master recipes.</a:t>
            </a:r>
          </a:p>
        </p:txBody>
      </p:sp>
      <p:sp>
        <p:nvSpPr>
          <p:cNvPr id="15" name="Rounded Rectangle 14"/>
          <p:cNvSpPr/>
          <p:nvPr/>
        </p:nvSpPr>
        <p:spPr>
          <a:xfrm>
            <a:off x="6446520" y="3602736"/>
            <a:ext cx="4709160" cy="585216"/>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621024"/>
            <a:ext cx="4526280" cy="530352"/>
          </a:xfrm>
          <a:prstGeom prst="rect">
            <a:avLst/>
          </a:prstGeom>
          <a:noFill/>
        </p:spPr>
        <p:txBody>
          <a:bodyPr wrap="square" lIns="0" tIns="0" rIns="0" bIns="0">
            <a:spAutoFit/>
          </a:bodyPr>
          <a:lstStyle/>
          <a:p>
            <a:pPr>
              <a:defRPr sz="1100" b="1">
                <a:solidFill>
                  <a:srgbClr val="2B161F"/>
                </a:solidFill>
                <a:latin typeface="Calibri"/>
              </a:defRPr>
            </a:pPr>
            <a:r>
              <a:t>Step 2: Relational Aggregation</a:t>
            </a:r>
          </a:p>
          <a:p>
            <a:pPr>
              <a:defRPr sz="950">
                <a:solidFill>
                  <a:srgbClr val="5E5550"/>
                </a:solidFill>
                <a:latin typeface="Calibri"/>
              </a:defRPr>
            </a:pPr>
            <a:r>
              <a:t>Organizes records by property (Sitara, Sahara), meal shift (Lunch, Dinner), and service format (Buffet, Banquet).</a:t>
            </a:r>
          </a:p>
        </p:txBody>
      </p:sp>
      <p:sp>
        <p:nvSpPr>
          <p:cNvPr id="17" name="Rounded Rectangle 16"/>
          <p:cNvSpPr/>
          <p:nvPr/>
        </p:nvSpPr>
        <p:spPr>
          <a:xfrm>
            <a:off x="6446520" y="4261104"/>
            <a:ext cx="4709160" cy="585216"/>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279392"/>
            <a:ext cx="4526280" cy="530352"/>
          </a:xfrm>
          <a:prstGeom prst="rect">
            <a:avLst/>
          </a:prstGeom>
          <a:noFill/>
        </p:spPr>
        <p:txBody>
          <a:bodyPr wrap="square" lIns="0" tIns="0" rIns="0" bIns="0">
            <a:spAutoFit/>
          </a:bodyPr>
          <a:lstStyle/>
          <a:p>
            <a:pPr>
              <a:defRPr sz="1100" b="1">
                <a:solidFill>
                  <a:srgbClr val="2B161F"/>
                </a:solidFill>
                <a:latin typeface="Calibri"/>
              </a:defRPr>
            </a:pPr>
            <a:r>
              <a:t>Step 3: Rules Engine &amp; Variance Triggers</a:t>
            </a:r>
          </a:p>
          <a:p>
            <a:pPr>
              <a:defRPr sz="950">
                <a:solidFill>
                  <a:srgbClr val="5E5550"/>
                </a:solidFill>
                <a:latin typeface="Calibri"/>
              </a:defRPr>
            </a:pPr>
            <a:r>
              <a:t>Compares prepared vs consumed vs discarded against historical benchmarks to detect waste anomalies.</a:t>
            </a:r>
          </a:p>
        </p:txBody>
      </p:sp>
      <p:sp>
        <p:nvSpPr>
          <p:cNvPr id="19" name="Rounded Rectangle 18"/>
          <p:cNvSpPr/>
          <p:nvPr/>
        </p:nvSpPr>
        <p:spPr>
          <a:xfrm>
            <a:off x="6446520" y="4919472"/>
            <a:ext cx="4709160" cy="585216"/>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37760"/>
            <a:ext cx="4526280" cy="530352"/>
          </a:xfrm>
          <a:prstGeom prst="rect">
            <a:avLst/>
          </a:prstGeom>
          <a:noFill/>
        </p:spPr>
        <p:txBody>
          <a:bodyPr wrap="square" lIns="0" tIns="0" rIns="0" bIns="0">
            <a:spAutoFit/>
          </a:bodyPr>
          <a:lstStyle/>
          <a:p>
            <a:pPr>
              <a:defRPr sz="1100" b="1">
                <a:solidFill>
                  <a:srgbClr val="2B161F"/>
                </a:solidFill>
                <a:latin typeface="Calibri"/>
              </a:defRPr>
            </a:pPr>
            <a:r>
              <a:t>Step 4: Executive Dashboards &amp; Action Cards</a:t>
            </a:r>
          </a:p>
          <a:p>
            <a:pPr>
              <a:defRPr sz="950">
                <a:solidFill>
                  <a:srgbClr val="5E5550"/>
                </a:solidFill>
                <a:latin typeface="Calibri"/>
              </a:defRPr>
            </a:pPr>
            <a:r>
              <a:t>Surfaces instant financial valuation and actionable batch-size adjustment recommendations.</a:t>
            </a:r>
          </a:p>
        </p:txBody>
      </p:sp>
      <p:sp>
        <p:nvSpPr>
          <p:cNvPr id="21" name="Rounded Rectangle 20"/>
          <p:cNvSpPr/>
          <p:nvPr/>
        </p:nvSpPr>
        <p:spPr>
          <a:xfrm>
            <a:off x="6446520" y="5596128"/>
            <a:ext cx="4709160" cy="347472"/>
          </a:xfrm>
          <a:prstGeom prst="roundRect">
            <a:avLst/>
          </a:prstGeom>
          <a:solidFill>
            <a:srgbClr val="F9F8F4"/>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5614416"/>
            <a:ext cx="4526280" cy="292608"/>
          </a:xfrm>
          <a:prstGeom prst="rect">
            <a:avLst/>
          </a:prstGeom>
          <a:noFill/>
        </p:spPr>
        <p:txBody>
          <a:bodyPr wrap="square" lIns="0" tIns="0" rIns="0" bIns="0">
            <a:spAutoFit/>
          </a:bodyPr>
          <a:lstStyle/>
          <a:p>
            <a:pPr>
              <a:defRPr sz="850">
                <a:solidFill>
                  <a:srgbClr val="C34F2A"/>
                </a:solidFill>
                <a:latin typeface="Calibri"/>
              </a:defRPr>
            </a:pPr>
            <a:r>
              <a:t>Data Governance: Historical spreadsheets bootstrap intelligence immediately, ensuring baseline visibility prior to physical station rollout.</a:t>
            </a:r>
          </a:p>
        </p:txBody>
      </p:sp>
      <p:sp>
        <p:nvSpPr>
          <p:cNvPr id="23" name="Rectangle 22"/>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5" name="TextBox 24"/>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6" name="TextBox 25"/>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03 / EXECUTIVE KPIS</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Start With the Full Food-Waste Picture</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Top-level KPI cards establish executive visibility across total preparation, consumption, waste, cost, and guest volume.</a:t>
            </a:r>
          </a:p>
        </p:txBody>
      </p:sp>
      <p:sp>
        <p:nvSpPr>
          <p:cNvPr id="6" name="Rounded Rectangle 5"/>
          <p:cNvSpPr/>
          <p:nvPr/>
        </p:nvSpPr>
        <p:spPr>
          <a:xfrm>
            <a:off x="777240" y="1874519"/>
            <a:ext cx="10634472" cy="2084831"/>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kpi_cards.png"/>
          <p:cNvPicPr>
            <a:picLocks noChangeAspect="1"/>
          </p:cNvPicPr>
          <p:nvPr/>
        </p:nvPicPr>
        <p:blipFill>
          <a:blip r:embed="rId2"/>
          <a:stretch>
            <a:fillRect/>
          </a:stretch>
        </p:blipFill>
        <p:spPr>
          <a:xfrm>
            <a:off x="868680" y="1965960"/>
            <a:ext cx="10451592" cy="1828800"/>
          </a:xfrm>
          <a:prstGeom prst="rect">
            <a:avLst/>
          </a:prstGeom>
        </p:spPr>
      </p:pic>
      <p:sp>
        <p:nvSpPr>
          <p:cNvPr id="8" name="TextBox 7"/>
          <p:cNvSpPr txBox="1"/>
          <p:nvPr/>
        </p:nvSpPr>
        <p:spPr>
          <a:xfrm>
            <a:off x="868680" y="3803904"/>
            <a:ext cx="10451592" cy="164592"/>
          </a:xfrm>
          <a:prstGeom prst="rect">
            <a:avLst/>
          </a:prstGeom>
          <a:noFill/>
        </p:spPr>
        <p:txBody>
          <a:bodyPr wrap="none" lIns="0" tIns="0" rIns="0" bIns="0">
            <a:spAutoFit/>
          </a:bodyPr>
          <a:lstStyle/>
          <a:p>
            <a:pPr>
              <a:defRPr sz="850">
                <a:solidFill>
                  <a:srgbClr val="8A7C74"/>
                </a:solidFill>
                <a:latin typeface="Calibri"/>
              </a:defRPr>
            </a:pPr>
            <a:r>
              <a:t>Current interface snapshot: Top-level operational KPI cards (ai.platesight.in/analytics) • Values shown represent current platform demonstration data.</a:t>
            </a:r>
          </a:p>
        </p:txBody>
      </p:sp>
      <p:sp>
        <p:nvSpPr>
          <p:cNvPr id="9" name="Rounded Rectangle 8"/>
          <p:cNvSpPr/>
          <p:nvPr/>
        </p:nvSpPr>
        <p:spPr>
          <a:xfrm>
            <a:off x="777240" y="4041648"/>
            <a:ext cx="3337560" cy="2084831"/>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20" y="4160520"/>
            <a:ext cx="164592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VOLUME &amp; INTAKE</a:t>
            </a:r>
          </a:p>
        </p:txBody>
      </p:sp>
      <p:sp>
        <p:nvSpPr>
          <p:cNvPr id="11" name="TextBox 10"/>
          <p:cNvSpPr txBox="1"/>
          <p:nvPr/>
        </p:nvSpPr>
        <p:spPr>
          <a:xfrm>
            <a:off x="960120" y="4434840"/>
            <a:ext cx="2971800" cy="320040"/>
          </a:xfrm>
          <a:prstGeom prst="rect">
            <a:avLst/>
          </a:prstGeom>
          <a:noFill/>
        </p:spPr>
        <p:txBody>
          <a:bodyPr wrap="none" lIns="0" tIns="0" rIns="0" bIns="0">
            <a:spAutoFit/>
          </a:bodyPr>
          <a:lstStyle/>
          <a:p>
            <a:pPr>
              <a:defRPr sz="1400" b="1">
                <a:solidFill>
                  <a:srgbClr val="2B161F"/>
                </a:solidFill>
                <a:latin typeface="Georgia"/>
              </a:defRPr>
            </a:pPr>
            <a:r>
              <a:t>Prepared vs. Consumed</a:t>
            </a:r>
          </a:p>
        </p:txBody>
      </p:sp>
      <p:sp>
        <p:nvSpPr>
          <p:cNvPr id="12" name="TextBox 11"/>
          <p:cNvSpPr txBox="1"/>
          <p:nvPr/>
        </p:nvSpPr>
        <p:spPr>
          <a:xfrm>
            <a:off x="960120" y="4773168"/>
            <a:ext cx="2971800" cy="1234440"/>
          </a:xfrm>
          <a:prstGeom prst="rect">
            <a:avLst/>
          </a:prstGeom>
          <a:noFill/>
        </p:spPr>
        <p:txBody>
          <a:bodyPr wrap="square" lIns="0" tIns="0" rIns="0" bIns="0">
            <a:spAutoFit/>
          </a:bodyPr>
          <a:lstStyle/>
          <a:p>
            <a:pPr>
              <a:defRPr sz="950">
                <a:solidFill>
                  <a:srgbClr val="5E5550"/>
                </a:solidFill>
                <a:latin typeface="Calibri"/>
              </a:defRPr>
            </a:pPr>
            <a:r>
              <a:t>• Total Food Prepared: Establishes total kitchen production volume entering service.</a:t>
            </a:r>
          </a:p>
          <a:p>
            <a:pPr>
              <a:spcBef>
                <a:spcPts val="400"/>
              </a:spcBef>
              <a:defRPr sz="950">
                <a:solidFill>
                  <a:srgbClr val="5E5550"/>
                </a:solidFill>
                <a:latin typeface="Calibri"/>
              </a:defRPr>
            </a:pPr>
            <a:r>
              <a:t>• Consumption Rate: Measures true guest intake (e.g. 74.8% intake, 546g/guest).</a:t>
            </a:r>
          </a:p>
          <a:p>
            <a:pPr>
              <a:spcBef>
                <a:spcPts val="400"/>
              </a:spcBef>
              <a:defRPr sz="950">
                <a:solidFill>
                  <a:srgbClr val="5E5550"/>
                </a:solidFill>
                <a:latin typeface="Calibri"/>
              </a:defRPr>
            </a:pPr>
            <a:r>
              <a:t>• Waste % &amp; g/PAX: Normalizes discard volume against changing banquet group sizes.</a:t>
            </a:r>
          </a:p>
        </p:txBody>
      </p:sp>
      <p:sp>
        <p:nvSpPr>
          <p:cNvPr id="13" name="Rounded Rectangle 12"/>
          <p:cNvSpPr/>
          <p:nvPr/>
        </p:nvSpPr>
        <p:spPr>
          <a:xfrm>
            <a:off x="4425696" y="4041648"/>
            <a:ext cx="3337560" cy="2084831"/>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08576" y="4160520"/>
            <a:ext cx="164592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COST &amp; BUFFER DRIFT</a:t>
            </a:r>
          </a:p>
        </p:txBody>
      </p:sp>
      <p:sp>
        <p:nvSpPr>
          <p:cNvPr id="15" name="TextBox 14"/>
          <p:cNvSpPr txBox="1"/>
          <p:nvPr/>
        </p:nvSpPr>
        <p:spPr>
          <a:xfrm>
            <a:off x="4608576" y="4434840"/>
            <a:ext cx="2971800" cy="320040"/>
          </a:xfrm>
          <a:prstGeom prst="rect">
            <a:avLst/>
          </a:prstGeom>
          <a:noFill/>
        </p:spPr>
        <p:txBody>
          <a:bodyPr wrap="none" lIns="0" tIns="0" rIns="0" bIns="0">
            <a:spAutoFit/>
          </a:bodyPr>
          <a:lstStyle/>
          <a:p>
            <a:pPr>
              <a:defRPr sz="1400" b="1">
                <a:solidFill>
                  <a:srgbClr val="2B161F"/>
                </a:solidFill>
                <a:latin typeface="Georgia"/>
              </a:defRPr>
            </a:pPr>
            <a:r>
              <a:t>Financial Valuation &amp; Drift</a:t>
            </a:r>
          </a:p>
        </p:txBody>
      </p:sp>
      <p:sp>
        <p:nvSpPr>
          <p:cNvPr id="16" name="TextBox 15"/>
          <p:cNvSpPr txBox="1"/>
          <p:nvPr/>
        </p:nvSpPr>
        <p:spPr>
          <a:xfrm>
            <a:off x="4608576" y="4773168"/>
            <a:ext cx="2971800" cy="1234440"/>
          </a:xfrm>
          <a:prstGeom prst="rect">
            <a:avLst/>
          </a:prstGeom>
          <a:noFill/>
        </p:spPr>
        <p:txBody>
          <a:bodyPr wrap="square" lIns="0" tIns="0" rIns="0" bIns="0">
            <a:spAutoFit/>
          </a:bodyPr>
          <a:lstStyle/>
          <a:p>
            <a:pPr>
              <a:defRPr sz="950">
                <a:solidFill>
                  <a:srgbClr val="5E5550"/>
                </a:solidFill>
                <a:latin typeface="Calibri"/>
              </a:defRPr>
            </a:pPr>
            <a:r>
              <a:t>• Total Waste Cost: Maps discard kilograms directly to hotel ingredient cost sheets.</a:t>
            </a:r>
          </a:p>
          <a:p>
            <a:pPr>
              <a:spcBef>
                <a:spcPts val="400"/>
              </a:spcBef>
              <a:defRPr sz="950">
                <a:solidFill>
                  <a:srgbClr val="5E5550"/>
                </a:solidFill>
                <a:latin typeface="Calibri"/>
              </a:defRPr>
            </a:pPr>
            <a:r>
              <a:t>• Waste Cost / Guest: Isolates per-cover margin erosion for banquet pricing review.</a:t>
            </a:r>
          </a:p>
          <a:p>
            <a:pPr>
              <a:spcBef>
                <a:spcPts val="400"/>
              </a:spcBef>
              <a:defRPr sz="950">
                <a:solidFill>
                  <a:srgbClr val="5E5550"/>
                </a:solidFill>
                <a:latin typeface="Calibri"/>
              </a:defRPr>
            </a:pPr>
            <a:r>
              <a:t>• Prepared vs Planned: Quantifies kitchen buffer inflation against contracted pax.</a:t>
            </a:r>
          </a:p>
        </p:txBody>
      </p:sp>
      <p:sp>
        <p:nvSpPr>
          <p:cNvPr id="17" name="Rounded Rectangle 16"/>
          <p:cNvSpPr/>
          <p:nvPr/>
        </p:nvSpPr>
        <p:spPr>
          <a:xfrm>
            <a:off x="8074152" y="4041648"/>
            <a:ext cx="3337560" cy="2084831"/>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57032" y="4160520"/>
            <a:ext cx="164592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RESOURCE RECOVERY</a:t>
            </a:r>
          </a:p>
        </p:txBody>
      </p:sp>
      <p:sp>
        <p:nvSpPr>
          <p:cNvPr id="19" name="TextBox 18"/>
          <p:cNvSpPr txBox="1"/>
          <p:nvPr/>
        </p:nvSpPr>
        <p:spPr>
          <a:xfrm>
            <a:off x="8257032" y="4434840"/>
            <a:ext cx="2971800" cy="320040"/>
          </a:xfrm>
          <a:prstGeom prst="rect">
            <a:avLst/>
          </a:prstGeom>
          <a:noFill/>
        </p:spPr>
        <p:txBody>
          <a:bodyPr wrap="none" lIns="0" tIns="0" rIns="0" bIns="0">
            <a:spAutoFit/>
          </a:bodyPr>
          <a:lstStyle/>
          <a:p>
            <a:pPr>
              <a:defRPr sz="1400" b="1">
                <a:solidFill>
                  <a:srgbClr val="2B161F"/>
                </a:solidFill>
                <a:latin typeface="Georgia"/>
              </a:defRPr>
            </a:pPr>
            <a:r>
              <a:t>Leftover Segregation</a:t>
            </a:r>
          </a:p>
        </p:txBody>
      </p:sp>
      <p:sp>
        <p:nvSpPr>
          <p:cNvPr id="20" name="TextBox 19"/>
          <p:cNvSpPr txBox="1"/>
          <p:nvPr/>
        </p:nvSpPr>
        <p:spPr>
          <a:xfrm>
            <a:off x="8257032" y="4773168"/>
            <a:ext cx="2971800" cy="1234440"/>
          </a:xfrm>
          <a:prstGeom prst="rect">
            <a:avLst/>
          </a:prstGeom>
          <a:noFill/>
        </p:spPr>
        <p:txBody>
          <a:bodyPr wrap="square" lIns="0" tIns="0" rIns="0" bIns="0">
            <a:spAutoFit/>
          </a:bodyPr>
          <a:lstStyle/>
          <a:p>
            <a:pPr>
              <a:defRPr sz="950">
                <a:solidFill>
                  <a:srgbClr val="5E5550"/>
                </a:solidFill>
                <a:latin typeface="Calibri"/>
              </a:defRPr>
            </a:pPr>
            <a:r>
              <a:t>• Kitchen vs Buffet Split: Differentiates unserved pan holding from buffet table returns.</a:t>
            </a:r>
          </a:p>
          <a:p>
            <a:pPr>
              <a:spcBef>
                <a:spcPts val="400"/>
              </a:spcBef>
              <a:defRPr sz="950">
                <a:solidFill>
                  <a:srgbClr val="5E5550"/>
                </a:solidFill>
                <a:latin typeface="Calibri"/>
              </a:defRPr>
            </a:pPr>
            <a:r>
              <a:t>• Diverted / Reused Food: Tracks safe culinary repurposing under hotel food-safety SOPs.</a:t>
            </a:r>
          </a:p>
          <a:p>
            <a:pPr>
              <a:spcBef>
                <a:spcPts val="400"/>
              </a:spcBef>
              <a:defRPr sz="950">
                <a:solidFill>
                  <a:srgbClr val="5E5550"/>
                </a:solidFill>
                <a:latin typeface="Calibri"/>
              </a:defRPr>
            </a:pPr>
            <a:r>
              <a:t>• Clean Separation: Strictly avoids counting clean leftovers as unrecoverable waste.</a:t>
            </a:r>
          </a:p>
        </p:txBody>
      </p:sp>
      <p:sp>
        <p:nvSpPr>
          <p:cNvPr id="21" name="Rectangle 20"/>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3" name="TextBox 22"/>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4" name="TextBox 23"/>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04 / CULINARY LIFECYCLE</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Understand Where Food Goes Before Calling It Waste</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Tracking food through distinct operational stages prevents misattributing kitchen holding, buffet returns, or safe reuse as landfill waste.</a:t>
            </a:r>
          </a:p>
        </p:txBody>
      </p:sp>
      <p:sp>
        <p:nvSpPr>
          <p:cNvPr id="6" name="Rounded Rectangle 5"/>
          <p:cNvSpPr/>
          <p:nvPr/>
        </p:nvSpPr>
        <p:spPr>
          <a:xfrm>
            <a:off x="777240" y="1965960"/>
            <a:ext cx="58521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culinary_flow.png"/>
          <p:cNvPicPr>
            <a:picLocks noChangeAspect="1"/>
          </p:cNvPicPr>
          <p:nvPr/>
        </p:nvPicPr>
        <p:blipFill>
          <a:blip r:embed="rId2"/>
          <a:stretch>
            <a:fillRect/>
          </a:stretch>
        </p:blipFill>
        <p:spPr>
          <a:xfrm>
            <a:off x="914400" y="2084831"/>
            <a:ext cx="5577840" cy="2322576"/>
          </a:xfrm>
          <a:prstGeom prst="rect">
            <a:avLst/>
          </a:prstGeom>
        </p:spPr>
      </p:pic>
      <p:sp>
        <p:nvSpPr>
          <p:cNvPr id="8" name="TextBox 7"/>
          <p:cNvSpPr txBox="1"/>
          <p:nvPr/>
        </p:nvSpPr>
        <p:spPr>
          <a:xfrm>
            <a:off x="914400" y="4443984"/>
            <a:ext cx="5577840" cy="182880"/>
          </a:xfrm>
          <a:prstGeom prst="rect">
            <a:avLst/>
          </a:prstGeom>
          <a:noFill/>
        </p:spPr>
        <p:txBody>
          <a:bodyPr wrap="none" lIns="0" tIns="0" rIns="0" bIns="0">
            <a:spAutoFit/>
          </a:bodyPr>
          <a:lstStyle/>
          <a:p>
            <a:pPr>
              <a:defRPr sz="850">
                <a:solidFill>
                  <a:srgbClr val="8A7C74"/>
                </a:solidFill>
                <a:latin typeface="Calibri"/>
              </a:defRPr>
            </a:pPr>
            <a:r>
              <a:t>Current interface snapshot: Culinary Food Flow &amp; Waste Composition panel.</a:t>
            </a:r>
          </a:p>
        </p:txBody>
      </p:sp>
      <p:sp>
        <p:nvSpPr>
          <p:cNvPr id="9" name="Rounded Rectangle 8"/>
          <p:cNvSpPr/>
          <p:nvPr/>
        </p:nvSpPr>
        <p:spPr>
          <a:xfrm>
            <a:off x="914400" y="4681728"/>
            <a:ext cx="5577840" cy="1261872"/>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4791456"/>
            <a:ext cx="192024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CULINARY MASS BALANCE</a:t>
            </a:r>
          </a:p>
        </p:txBody>
      </p:sp>
      <p:sp>
        <p:nvSpPr>
          <p:cNvPr id="11" name="TextBox 10"/>
          <p:cNvSpPr txBox="1"/>
          <p:nvPr/>
        </p:nvSpPr>
        <p:spPr>
          <a:xfrm>
            <a:off x="1051560" y="5047488"/>
            <a:ext cx="5303520" cy="822960"/>
          </a:xfrm>
          <a:prstGeom prst="rect">
            <a:avLst/>
          </a:prstGeom>
          <a:noFill/>
        </p:spPr>
        <p:txBody>
          <a:bodyPr wrap="square" lIns="0" tIns="0" rIns="0" bIns="0">
            <a:spAutoFit/>
          </a:bodyPr>
          <a:lstStyle/>
          <a:p>
            <a:pPr>
              <a:defRPr sz="950">
                <a:solidFill>
                  <a:srgbClr val="5E5550"/>
                </a:solidFill>
                <a:latin typeface="Calibri"/>
              </a:defRPr>
            </a:pPr>
            <a:r>
              <a:t>• Mass-Balance Ledger: Total Prepared = Consumed + Cold-Chain Leftovers + Final Discard.</a:t>
            </a:r>
          </a:p>
          <a:p>
            <a:pPr>
              <a:spcBef>
                <a:spcPts val="200"/>
              </a:spcBef>
              <a:defRPr sz="950">
                <a:solidFill>
                  <a:srgbClr val="5E5550"/>
                </a:solidFill>
                <a:latin typeface="Calibri"/>
              </a:defRPr>
            </a:pPr>
            <a:r>
              <a:t>• Cold-Chain Preservation: Safe unserved holding is tracked separately under HACCP temp logs.</a:t>
            </a:r>
          </a:p>
          <a:p>
            <a:pPr>
              <a:spcBef>
                <a:spcPts val="200"/>
              </a:spcBef>
              <a:defRPr sz="950">
                <a:solidFill>
                  <a:srgbClr val="5E5550"/>
                </a:solidFill>
                <a:latin typeface="Calibri"/>
              </a:defRPr>
            </a:pPr>
            <a:r>
              <a:t>• Culinary Credibility: Sous chefs audit disposition before final service sign-off.</a:t>
            </a:r>
          </a:p>
        </p:txBody>
      </p:sp>
      <p:sp>
        <p:nvSpPr>
          <p:cNvPr id="12" name="Rounded Rectangle 11"/>
          <p:cNvSpPr/>
          <p:nvPr/>
        </p:nvSpPr>
        <p:spPr>
          <a:xfrm>
            <a:off x="6858000" y="1965960"/>
            <a:ext cx="4553712" cy="214884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86600" y="2148840"/>
            <a:ext cx="182880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LIFECYCLE MASS-BALANCE</a:t>
            </a:r>
          </a:p>
        </p:txBody>
      </p:sp>
      <p:sp>
        <p:nvSpPr>
          <p:cNvPr id="14" name="TextBox 13"/>
          <p:cNvSpPr txBox="1"/>
          <p:nvPr/>
        </p:nvSpPr>
        <p:spPr>
          <a:xfrm>
            <a:off x="7086600" y="2450592"/>
            <a:ext cx="4069080" cy="320040"/>
          </a:xfrm>
          <a:prstGeom prst="rect">
            <a:avLst/>
          </a:prstGeom>
          <a:noFill/>
        </p:spPr>
        <p:txBody>
          <a:bodyPr wrap="none" lIns="0" tIns="0" rIns="0" bIns="0">
            <a:spAutoFit/>
          </a:bodyPr>
          <a:lstStyle/>
          <a:p>
            <a:pPr>
              <a:defRPr sz="1500" b="1">
                <a:solidFill>
                  <a:srgbClr val="2B161F"/>
                </a:solidFill>
                <a:latin typeface="Georgia"/>
              </a:defRPr>
            </a:pPr>
            <a:r>
              <a:t>End-to-End Kitchen Journey</a:t>
            </a:r>
          </a:p>
        </p:txBody>
      </p:sp>
      <p:sp>
        <p:nvSpPr>
          <p:cNvPr id="15" name="TextBox 14"/>
          <p:cNvSpPr txBox="1"/>
          <p:nvPr/>
        </p:nvSpPr>
        <p:spPr>
          <a:xfrm>
            <a:off x="7086600" y="2788920"/>
            <a:ext cx="4069080" cy="1234440"/>
          </a:xfrm>
          <a:prstGeom prst="rect">
            <a:avLst/>
          </a:prstGeom>
          <a:noFill/>
        </p:spPr>
        <p:txBody>
          <a:bodyPr wrap="square" lIns="0" tIns="0" rIns="0" bIns="0">
            <a:spAutoFit/>
          </a:bodyPr>
          <a:lstStyle/>
          <a:p>
            <a:pPr>
              <a:defRPr sz="950">
                <a:solidFill>
                  <a:srgbClr val="5E5550"/>
                </a:solidFill>
                <a:latin typeface="Calibri"/>
              </a:defRPr>
            </a:pPr>
            <a:r>
              <a:t>• Estimated Requirement: Forecasted volume based on banquet PAX &amp; per-head specs.</a:t>
            </a:r>
          </a:p>
          <a:p>
            <a:pPr>
              <a:spcBef>
                <a:spcPts val="300"/>
              </a:spcBef>
              <a:defRPr sz="950">
                <a:solidFill>
                  <a:srgbClr val="5E5550"/>
                </a:solidFill>
                <a:latin typeface="Calibri"/>
              </a:defRPr>
            </a:pPr>
            <a:r>
              <a:t>• Kitchen Production: Actual cooked food output dispatched from central hot kitchens.</a:t>
            </a:r>
          </a:p>
          <a:p>
            <a:pPr>
              <a:spcBef>
                <a:spcPts val="300"/>
              </a:spcBef>
              <a:defRPr sz="950">
                <a:solidFill>
                  <a:srgbClr val="5E5550"/>
                </a:solidFill>
                <a:latin typeface="Calibri"/>
              </a:defRPr>
            </a:pPr>
            <a:r>
              <a:t>• Service Intake: Food picked up and consumed by banquet and restaurant guests.</a:t>
            </a:r>
          </a:p>
          <a:p>
            <a:pPr>
              <a:spcBef>
                <a:spcPts val="300"/>
              </a:spcBef>
              <a:defRPr sz="950">
                <a:solidFill>
                  <a:srgbClr val="5E5550"/>
                </a:solidFill>
                <a:latin typeface="Calibri"/>
              </a:defRPr>
            </a:pPr>
            <a:r>
              <a:t>• Surplus Disposition: Separation into unserved leftovers vs plate scrapings.</a:t>
            </a:r>
          </a:p>
        </p:txBody>
      </p:sp>
      <p:sp>
        <p:nvSpPr>
          <p:cNvPr id="16" name="Rounded Rectangle 15"/>
          <p:cNvSpPr/>
          <p:nvPr/>
        </p:nvSpPr>
        <p:spPr>
          <a:xfrm>
            <a:off x="6858000" y="4251960"/>
            <a:ext cx="4553712" cy="182880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086600" y="4434840"/>
            <a:ext cx="182880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WASTE COMPOSITION</a:t>
            </a:r>
          </a:p>
        </p:txBody>
      </p:sp>
      <p:sp>
        <p:nvSpPr>
          <p:cNvPr id="18" name="TextBox 17"/>
          <p:cNvSpPr txBox="1"/>
          <p:nvPr/>
        </p:nvSpPr>
        <p:spPr>
          <a:xfrm>
            <a:off x="7086600" y="4736592"/>
            <a:ext cx="4069080" cy="320040"/>
          </a:xfrm>
          <a:prstGeom prst="rect">
            <a:avLst/>
          </a:prstGeom>
          <a:noFill/>
        </p:spPr>
        <p:txBody>
          <a:bodyPr wrap="none" lIns="0" tIns="0" rIns="0" bIns="0">
            <a:spAutoFit/>
          </a:bodyPr>
          <a:lstStyle/>
          <a:p>
            <a:pPr>
              <a:defRPr sz="1500" b="1">
                <a:solidFill>
                  <a:srgbClr val="2B161F"/>
                </a:solidFill>
                <a:latin typeface="Georgia"/>
              </a:defRPr>
            </a:pPr>
            <a:r>
              <a:t>Crucial Operational Categorization</a:t>
            </a:r>
          </a:p>
        </p:txBody>
      </p:sp>
      <p:sp>
        <p:nvSpPr>
          <p:cNvPr id="19" name="TextBox 18"/>
          <p:cNvSpPr txBox="1"/>
          <p:nvPr/>
        </p:nvSpPr>
        <p:spPr>
          <a:xfrm>
            <a:off x="7086600" y="5074920"/>
            <a:ext cx="4069080" cy="914400"/>
          </a:xfrm>
          <a:prstGeom prst="rect">
            <a:avLst/>
          </a:prstGeom>
          <a:noFill/>
        </p:spPr>
        <p:txBody>
          <a:bodyPr wrap="square" lIns="0" tIns="0" rIns="0" bIns="0">
            <a:spAutoFit/>
          </a:bodyPr>
          <a:lstStyle/>
          <a:p>
            <a:pPr>
              <a:defRPr sz="950" b="0">
                <a:solidFill>
                  <a:srgbClr val="5E5550"/>
                </a:solidFill>
                <a:latin typeface="Calibri"/>
              </a:defRPr>
            </a:pPr>
            <a:r>
              <a:t>• Buffet Returns: Unserved hot/cold chafing dishes under temperature control.</a:t>
            </a:r>
          </a:p>
          <a:p>
            <a:pPr>
              <a:spcBef>
                <a:spcPts val="200"/>
              </a:spcBef>
              <a:defRPr sz="950" b="0">
                <a:solidFill>
                  <a:srgbClr val="5E5550"/>
                </a:solidFill>
                <a:latin typeface="Calibri"/>
              </a:defRPr>
            </a:pPr>
            <a:r>
              <a:t>• Safely Reused: Rapid-chilled items repurposed under hotel food-safety SOPs.</a:t>
            </a:r>
          </a:p>
          <a:p>
            <a:pPr>
              <a:spcBef>
                <a:spcPts val="200"/>
              </a:spcBef>
              <a:defRPr sz="950" b="0">
                <a:solidFill>
                  <a:srgbClr val="5E5550"/>
                </a:solidFill>
                <a:latin typeface="Calibri"/>
              </a:defRPr>
            </a:pPr>
            <a:r>
              <a:t>• Final Discard: Contaminated plate scrapings and post-service spoilage.</a:t>
            </a:r>
          </a:p>
          <a:p>
            <a:pPr>
              <a:spcBef>
                <a:spcPts val="200"/>
              </a:spcBef>
              <a:defRPr sz="950" b="1">
                <a:solidFill>
                  <a:srgbClr val="2B161F"/>
                </a:solidFill>
                <a:latin typeface="Calibri"/>
              </a:defRPr>
            </a:pPr>
            <a:r>
              <a:t>• Rigorous Rule: Reused food is strictly separated and NEVER double-counted as waste.</a:t>
            </a:r>
          </a:p>
        </p:txBody>
      </p:sp>
      <p:sp>
        <p:nvSpPr>
          <p:cNvPr id="20" name="Rectangle 19"/>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2" name="TextBox 21"/>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3" name="TextBox 22"/>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05 / OPERATIONAL INTELLIGENCE</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A Signal Is the Start of an Investigation</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Rules-driven intelligence translates operational anomalies into targeted kitchen inquiries, not unverified root-cause accusations.</a:t>
            </a:r>
          </a:p>
        </p:txBody>
      </p:sp>
      <p:sp>
        <p:nvSpPr>
          <p:cNvPr id="6" name="Rounded Rectangle 5"/>
          <p:cNvSpPr/>
          <p:nvPr/>
        </p:nvSpPr>
        <p:spPr>
          <a:xfrm>
            <a:off x="777240" y="1965960"/>
            <a:ext cx="58521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action_cards.png"/>
          <p:cNvPicPr>
            <a:picLocks noChangeAspect="1"/>
          </p:cNvPicPr>
          <p:nvPr/>
        </p:nvPicPr>
        <p:blipFill>
          <a:blip r:embed="rId2"/>
          <a:stretch>
            <a:fillRect/>
          </a:stretch>
        </p:blipFill>
        <p:spPr>
          <a:xfrm>
            <a:off x="914400" y="2084831"/>
            <a:ext cx="5577840" cy="1508760"/>
          </a:xfrm>
          <a:prstGeom prst="rect">
            <a:avLst/>
          </a:prstGeom>
        </p:spPr>
      </p:pic>
      <p:sp>
        <p:nvSpPr>
          <p:cNvPr id="8" name="TextBox 7"/>
          <p:cNvSpPr txBox="1"/>
          <p:nvPr/>
        </p:nvSpPr>
        <p:spPr>
          <a:xfrm>
            <a:off x="914400" y="3630168"/>
            <a:ext cx="5577840" cy="182880"/>
          </a:xfrm>
          <a:prstGeom prst="rect">
            <a:avLst/>
          </a:prstGeom>
          <a:noFill/>
        </p:spPr>
        <p:txBody>
          <a:bodyPr wrap="none" lIns="0" tIns="0" rIns="0" bIns="0">
            <a:spAutoFit/>
          </a:bodyPr>
          <a:lstStyle/>
          <a:p>
            <a:pPr>
              <a:defRPr sz="850">
                <a:solidFill>
                  <a:srgbClr val="8A7C74"/>
                </a:solidFill>
                <a:latin typeface="Calibri"/>
              </a:defRPr>
            </a:pPr>
            <a:r>
              <a:t>Current interface snapshot: Operational Intelligence &amp; Action Plan cards with priority filters.</a:t>
            </a:r>
          </a:p>
        </p:txBody>
      </p:sp>
      <p:sp>
        <p:nvSpPr>
          <p:cNvPr id="9" name="Rounded Rectangle 8"/>
          <p:cNvSpPr/>
          <p:nvPr/>
        </p:nvSpPr>
        <p:spPr>
          <a:xfrm>
            <a:off x="914400" y="3886200"/>
            <a:ext cx="5577840" cy="205740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4005072"/>
            <a:ext cx="201168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LIVE ACTION CARD SAMPLES</a:t>
            </a:r>
          </a:p>
        </p:txBody>
      </p:sp>
      <p:sp>
        <p:nvSpPr>
          <p:cNvPr id="11" name="TextBox 10"/>
          <p:cNvSpPr txBox="1"/>
          <p:nvPr/>
        </p:nvSpPr>
        <p:spPr>
          <a:xfrm>
            <a:off x="1051560" y="4279392"/>
            <a:ext cx="5303520" cy="256032"/>
          </a:xfrm>
          <a:prstGeom prst="rect">
            <a:avLst/>
          </a:prstGeom>
          <a:noFill/>
        </p:spPr>
        <p:txBody>
          <a:bodyPr wrap="none" lIns="0" tIns="0" rIns="0" bIns="0">
            <a:spAutoFit/>
          </a:bodyPr>
          <a:lstStyle/>
          <a:p>
            <a:pPr>
              <a:defRPr sz="1200" b="1">
                <a:solidFill>
                  <a:srgbClr val="2B161F"/>
                </a:solidFill>
                <a:latin typeface="Georgia"/>
              </a:defRPr>
            </a:pPr>
            <a:r>
              <a:t>Direct Recommendations Generated in Dashboard</a:t>
            </a:r>
          </a:p>
        </p:txBody>
      </p:sp>
      <p:sp>
        <p:nvSpPr>
          <p:cNvPr id="12" name="TextBox 11"/>
          <p:cNvSpPr txBox="1"/>
          <p:nvPr/>
        </p:nvSpPr>
        <p:spPr>
          <a:xfrm>
            <a:off x="1051560" y="4553712"/>
            <a:ext cx="5303520" cy="1298448"/>
          </a:xfrm>
          <a:prstGeom prst="rect">
            <a:avLst/>
          </a:prstGeom>
          <a:noFill/>
        </p:spPr>
        <p:txBody>
          <a:bodyPr wrap="square" lIns="0" tIns="0" rIns="0" bIns="0">
            <a:spAutoFit/>
          </a:bodyPr>
          <a:lstStyle/>
          <a:p>
            <a:pPr>
              <a:defRPr sz="950">
                <a:solidFill>
                  <a:srgbClr val="2B161F"/>
                </a:solidFill>
                <a:latin typeface="Calibri"/>
              </a:defRPr>
            </a:pPr>
            <a:r>
              <a:t>• [CRITICAL] Plain Rice Batch Size: Cut dinner buffet primary batch by 25% (Sahara Kitchen). Estimated impact: -14 kg/day.</a:t>
            </a:r>
          </a:p>
          <a:p>
            <a:pPr>
              <a:spcBef>
                <a:spcPts val="300"/>
              </a:spcBef>
              <a:defRPr sz="950">
                <a:solidFill>
                  <a:srgbClr val="5E5550"/>
                </a:solidFill>
                <a:latin typeface="Calibri"/>
              </a:defRPr>
            </a:pPr>
            <a:r>
              <a:t>• [ATTENTION] Sambar Replenishment: Switch to 2-stage half-pan holding in final 45 mins. Estimated impact: -8 kg/day.</a:t>
            </a:r>
          </a:p>
          <a:p>
            <a:pPr>
              <a:spcBef>
                <a:spcPts val="300"/>
              </a:spcBef>
              <a:defRPr sz="950">
                <a:solidFill>
                  <a:srgbClr val="5E5550"/>
                </a:solidFill>
                <a:latin typeface="Calibri"/>
              </a:defRPr>
            </a:pPr>
            <a:r>
              <a:t>• [PERFORMING WELL] Bread &amp; Bakery Station: Waste index &lt; 3.2% across last 7 consecutive services.</a:t>
            </a:r>
          </a:p>
        </p:txBody>
      </p:sp>
      <p:sp>
        <p:nvSpPr>
          <p:cNvPr id="13" name="Rounded Rectangle 12"/>
          <p:cNvSpPr/>
          <p:nvPr/>
        </p:nvSpPr>
        <p:spPr>
          <a:xfrm>
            <a:off x="6858000" y="1965960"/>
            <a:ext cx="4553712" cy="242316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86600" y="2148840"/>
            <a:ext cx="192024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THE 5-STEP ACTION FRAMEWORK</a:t>
            </a:r>
          </a:p>
        </p:txBody>
      </p:sp>
      <p:sp>
        <p:nvSpPr>
          <p:cNvPr id="15" name="TextBox 14"/>
          <p:cNvSpPr txBox="1"/>
          <p:nvPr/>
        </p:nvSpPr>
        <p:spPr>
          <a:xfrm>
            <a:off x="7086600" y="2450592"/>
            <a:ext cx="4069080" cy="320040"/>
          </a:xfrm>
          <a:prstGeom prst="rect">
            <a:avLst/>
          </a:prstGeom>
          <a:noFill/>
        </p:spPr>
        <p:txBody>
          <a:bodyPr wrap="none" lIns="0" tIns="0" rIns="0" bIns="0">
            <a:spAutoFit/>
          </a:bodyPr>
          <a:lstStyle/>
          <a:p>
            <a:pPr>
              <a:defRPr sz="1500" b="1">
                <a:solidFill>
                  <a:srgbClr val="2B161F"/>
                </a:solidFill>
                <a:latin typeface="Georgia"/>
              </a:defRPr>
            </a:pPr>
            <a:r>
              <a:t>How Observations Become Results</a:t>
            </a:r>
          </a:p>
        </p:txBody>
      </p:sp>
      <p:sp>
        <p:nvSpPr>
          <p:cNvPr id="16" name="TextBox 15"/>
          <p:cNvSpPr txBox="1"/>
          <p:nvPr/>
        </p:nvSpPr>
        <p:spPr>
          <a:xfrm>
            <a:off x="7086600" y="2788920"/>
            <a:ext cx="4069080" cy="1508760"/>
          </a:xfrm>
          <a:prstGeom prst="rect">
            <a:avLst/>
          </a:prstGeom>
          <a:noFill/>
        </p:spPr>
        <p:txBody>
          <a:bodyPr wrap="square" lIns="0" tIns="0" rIns="0" bIns="0">
            <a:spAutoFit/>
          </a:bodyPr>
          <a:lstStyle/>
          <a:p>
            <a:pPr>
              <a:defRPr sz="950">
                <a:solidFill>
                  <a:srgbClr val="5E5550"/>
                </a:solidFill>
                <a:latin typeface="Calibri"/>
              </a:defRPr>
            </a:pPr>
            <a:r>
              <a:t>• 1. Metric Signal: Identifies anomaly (e.g. Dinner buffet waste &gt;30%).</a:t>
            </a:r>
          </a:p>
          <a:p>
            <a:pPr>
              <a:spcBef>
                <a:spcPts val="300"/>
              </a:spcBef>
              <a:defRPr sz="950">
                <a:solidFill>
                  <a:srgbClr val="5E5550"/>
                </a:solidFill>
                <a:latin typeface="Calibri"/>
              </a:defRPr>
            </a:pPr>
            <a:r>
              <a:t>• 2. Data Indication: Isolates specific recipe drift (e.g. Plain Rice over-batching).</a:t>
            </a:r>
          </a:p>
          <a:p>
            <a:pPr>
              <a:spcBef>
                <a:spcPts val="300"/>
              </a:spcBef>
              <a:defRPr sz="950">
                <a:solidFill>
                  <a:srgbClr val="5E5550"/>
                </a:solidFill>
                <a:latin typeface="Calibri"/>
              </a:defRPr>
            </a:pPr>
            <a:r>
              <a:t>• 3. Investigation: Sous chef inspects pan replenishment timing &amp; headcounts.</a:t>
            </a:r>
          </a:p>
          <a:p>
            <a:pPr>
              <a:spcBef>
                <a:spcPts val="300"/>
              </a:spcBef>
              <a:defRPr sz="950">
                <a:solidFill>
                  <a:srgbClr val="5E5550"/>
                </a:solidFill>
                <a:latin typeface="Calibri"/>
              </a:defRPr>
            </a:pPr>
            <a:r>
              <a:t>• 4. Kitchen Action: Implement staged batch cooking (50% base + 25% + 25%).</a:t>
            </a:r>
          </a:p>
          <a:p>
            <a:pPr>
              <a:spcBef>
                <a:spcPts val="300"/>
              </a:spcBef>
              <a:defRPr sz="950">
                <a:solidFill>
                  <a:srgbClr val="5E5550"/>
                </a:solidFill>
                <a:latin typeface="Calibri"/>
              </a:defRPr>
            </a:pPr>
            <a:r>
              <a:t>• 5. Verification: Measure waste reduction across next 5 comparable dinner services.</a:t>
            </a:r>
          </a:p>
        </p:txBody>
      </p:sp>
      <p:sp>
        <p:nvSpPr>
          <p:cNvPr id="17" name="Rounded Rectangle 16"/>
          <p:cNvSpPr/>
          <p:nvPr/>
        </p:nvSpPr>
        <p:spPr>
          <a:xfrm>
            <a:off x="6858000" y="4526280"/>
            <a:ext cx="4553712" cy="155448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86600" y="4709160"/>
            <a:ext cx="164592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TRIAGE &amp; TRANSPARENCY</a:t>
            </a:r>
          </a:p>
        </p:txBody>
      </p:sp>
      <p:sp>
        <p:nvSpPr>
          <p:cNvPr id="19" name="TextBox 18"/>
          <p:cNvSpPr txBox="1"/>
          <p:nvPr/>
        </p:nvSpPr>
        <p:spPr>
          <a:xfrm>
            <a:off x="7086600" y="5010912"/>
            <a:ext cx="4069080" cy="320040"/>
          </a:xfrm>
          <a:prstGeom prst="rect">
            <a:avLst/>
          </a:prstGeom>
          <a:noFill/>
        </p:spPr>
        <p:txBody>
          <a:bodyPr wrap="none" lIns="0" tIns="0" rIns="0" bIns="0">
            <a:spAutoFit/>
          </a:bodyPr>
          <a:lstStyle/>
          <a:p>
            <a:pPr>
              <a:defRPr sz="1400" b="1">
                <a:solidFill>
                  <a:srgbClr val="2B161F"/>
                </a:solidFill>
                <a:latin typeface="Georgia"/>
              </a:defRPr>
            </a:pPr>
            <a:r>
              <a:t>Rules-Driven, Not Black-Box</a:t>
            </a:r>
          </a:p>
        </p:txBody>
      </p:sp>
      <p:sp>
        <p:nvSpPr>
          <p:cNvPr id="20" name="TextBox 19"/>
          <p:cNvSpPr txBox="1"/>
          <p:nvPr/>
        </p:nvSpPr>
        <p:spPr>
          <a:xfrm>
            <a:off x="7086600" y="5321808"/>
            <a:ext cx="4069080" cy="685800"/>
          </a:xfrm>
          <a:prstGeom prst="rect">
            <a:avLst/>
          </a:prstGeom>
          <a:noFill/>
        </p:spPr>
        <p:txBody>
          <a:bodyPr wrap="square" lIns="0" tIns="0" rIns="0" bIns="0">
            <a:spAutoFit/>
          </a:bodyPr>
          <a:lstStyle/>
          <a:p>
            <a:pPr>
              <a:defRPr sz="950">
                <a:solidFill>
                  <a:srgbClr val="5E5550"/>
                </a:solidFill>
                <a:latin typeface="Calibri"/>
              </a:defRPr>
            </a:pPr>
            <a:r>
              <a:t>• Priority Triage: Filter by Critical, Attention, Performing Well, and Information.</a:t>
            </a:r>
          </a:p>
          <a:p>
            <a:pPr>
              <a:spcBef>
                <a:spcPts val="200"/>
              </a:spcBef>
              <a:defRPr sz="950">
                <a:solidFill>
                  <a:srgbClr val="5E5550"/>
                </a:solidFill>
                <a:latin typeface="Calibri"/>
              </a:defRPr>
            </a:pPr>
            <a:r>
              <a:t>• Deterministic Logic: Actions are based on hotel-configured rules, not hallucinated AI claims.</a:t>
            </a:r>
          </a:p>
        </p:txBody>
      </p:sp>
      <p:sp>
        <p:nvSpPr>
          <p:cNvPr id="21" name="Rectangle 20"/>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3" name="TextBox 22"/>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4" name="TextBox 23"/>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06 / TREND ANALYSIS</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Separate Total Volume From Performance Rates</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Day-over-day tracking reveals whether rising waste stems from operational inefficiency or simply higher guest volume.</a:t>
            </a:r>
          </a:p>
        </p:txBody>
      </p:sp>
      <p:sp>
        <p:nvSpPr>
          <p:cNvPr id="6" name="Rounded Rectangle 5"/>
          <p:cNvSpPr/>
          <p:nvPr/>
        </p:nvSpPr>
        <p:spPr>
          <a:xfrm>
            <a:off x="777240" y="1965960"/>
            <a:ext cx="58521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daily_trends.png"/>
          <p:cNvPicPr>
            <a:picLocks noChangeAspect="1"/>
          </p:cNvPicPr>
          <p:nvPr/>
        </p:nvPicPr>
        <p:blipFill>
          <a:blip r:embed="rId2"/>
          <a:stretch>
            <a:fillRect/>
          </a:stretch>
        </p:blipFill>
        <p:spPr>
          <a:xfrm>
            <a:off x="914400" y="2084831"/>
            <a:ext cx="5577840" cy="2048256"/>
          </a:xfrm>
          <a:prstGeom prst="rect">
            <a:avLst/>
          </a:prstGeom>
        </p:spPr>
      </p:pic>
      <p:sp>
        <p:nvSpPr>
          <p:cNvPr id="8" name="TextBox 7"/>
          <p:cNvSpPr txBox="1"/>
          <p:nvPr/>
        </p:nvSpPr>
        <p:spPr>
          <a:xfrm>
            <a:off x="914400" y="4169663"/>
            <a:ext cx="5577840" cy="182880"/>
          </a:xfrm>
          <a:prstGeom prst="rect">
            <a:avLst/>
          </a:prstGeom>
          <a:noFill/>
        </p:spPr>
        <p:txBody>
          <a:bodyPr wrap="none" lIns="0" tIns="0" rIns="0" bIns="0">
            <a:spAutoFit/>
          </a:bodyPr>
          <a:lstStyle/>
          <a:p>
            <a:pPr>
              <a:defRPr sz="850">
                <a:solidFill>
                  <a:srgbClr val="8A7C74"/>
                </a:solidFill>
                <a:latin typeface="Calibri"/>
              </a:defRPr>
            </a:pPr>
            <a:r>
              <a:t>Current interface snapshot: Daily Operational Trends (Volume, Waste %, Waste/Guest).</a:t>
            </a:r>
          </a:p>
        </p:txBody>
      </p:sp>
      <p:sp>
        <p:nvSpPr>
          <p:cNvPr id="9" name="Rounded Rectangle 8"/>
          <p:cNvSpPr/>
          <p:nvPr/>
        </p:nvSpPr>
        <p:spPr>
          <a:xfrm>
            <a:off x="914400" y="4425696"/>
            <a:ext cx="5577840" cy="1517904"/>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4535424"/>
            <a:ext cx="201168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NORMALIZED BENCHMARKING</a:t>
            </a:r>
          </a:p>
        </p:txBody>
      </p:sp>
      <p:sp>
        <p:nvSpPr>
          <p:cNvPr id="11" name="TextBox 10"/>
          <p:cNvSpPr txBox="1"/>
          <p:nvPr/>
        </p:nvSpPr>
        <p:spPr>
          <a:xfrm>
            <a:off x="1051560" y="4791456"/>
            <a:ext cx="5303520" cy="256032"/>
          </a:xfrm>
          <a:prstGeom prst="rect">
            <a:avLst/>
          </a:prstGeom>
          <a:noFill/>
        </p:spPr>
        <p:txBody>
          <a:bodyPr wrap="none" lIns="0" tIns="0" rIns="0" bIns="0">
            <a:spAutoFit/>
          </a:bodyPr>
          <a:lstStyle/>
          <a:p>
            <a:pPr>
              <a:defRPr sz="1200" b="1">
                <a:solidFill>
                  <a:srgbClr val="2B161F"/>
                </a:solidFill>
                <a:latin typeface="Georgia"/>
              </a:defRPr>
            </a:pPr>
            <a:r>
              <a:t>Grams-Per-Guest (g/PAX) Target Metrics</a:t>
            </a:r>
          </a:p>
        </p:txBody>
      </p:sp>
      <p:sp>
        <p:nvSpPr>
          <p:cNvPr id="12" name="TextBox 11"/>
          <p:cNvSpPr txBox="1"/>
          <p:nvPr/>
        </p:nvSpPr>
        <p:spPr>
          <a:xfrm>
            <a:off x="1051560" y="5047488"/>
            <a:ext cx="5303520" cy="822960"/>
          </a:xfrm>
          <a:prstGeom prst="rect">
            <a:avLst/>
          </a:prstGeom>
          <a:noFill/>
        </p:spPr>
        <p:txBody>
          <a:bodyPr wrap="square" lIns="0" tIns="0" rIns="0" bIns="0">
            <a:spAutoFit/>
          </a:bodyPr>
          <a:lstStyle/>
          <a:p>
            <a:pPr>
              <a:defRPr sz="950">
                <a:solidFill>
                  <a:srgbClr val="5E5550"/>
                </a:solidFill>
                <a:latin typeface="Calibri"/>
              </a:defRPr>
            </a:pPr>
            <a:r>
              <a:t>• Gross Volume vs True Rate: 100kg waste with 2,000 PAX (50g/guest) is far more efficient than 30kg waste with 100 PAX (300g/guest).</a:t>
            </a:r>
          </a:p>
          <a:p>
            <a:pPr>
              <a:spcBef>
                <a:spcPts val="300"/>
              </a:spcBef>
              <a:defRPr sz="950">
                <a:solidFill>
                  <a:srgbClr val="5E5550"/>
                </a:solidFill>
                <a:latin typeface="Calibri"/>
              </a:defRPr>
            </a:pPr>
            <a:r>
              <a:t>• Target Hospitality Benchmark: &lt;80g/PAX for multi-dish banquet buffets; &lt;45g/PAX for business luncheons.</a:t>
            </a:r>
          </a:p>
        </p:txBody>
      </p:sp>
      <p:sp>
        <p:nvSpPr>
          <p:cNvPr id="13" name="Rounded Rectangle 12"/>
          <p:cNvSpPr/>
          <p:nvPr/>
        </p:nvSpPr>
        <p:spPr>
          <a:xfrm>
            <a:off x="6858000" y="1965960"/>
            <a:ext cx="4553712" cy="214884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86600" y="2148840"/>
            <a:ext cx="164592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DUAL-AXIS EVALUATION</a:t>
            </a:r>
          </a:p>
        </p:txBody>
      </p:sp>
      <p:sp>
        <p:nvSpPr>
          <p:cNvPr id="15" name="TextBox 14"/>
          <p:cNvSpPr txBox="1"/>
          <p:nvPr/>
        </p:nvSpPr>
        <p:spPr>
          <a:xfrm>
            <a:off x="7086600" y="2450592"/>
            <a:ext cx="4069080" cy="320040"/>
          </a:xfrm>
          <a:prstGeom prst="rect">
            <a:avLst/>
          </a:prstGeom>
          <a:noFill/>
        </p:spPr>
        <p:txBody>
          <a:bodyPr wrap="none" lIns="0" tIns="0" rIns="0" bIns="0">
            <a:spAutoFit/>
          </a:bodyPr>
          <a:lstStyle/>
          <a:p>
            <a:pPr>
              <a:defRPr sz="1500" b="1">
                <a:solidFill>
                  <a:srgbClr val="2B161F"/>
                </a:solidFill>
                <a:latin typeface="Georgia"/>
              </a:defRPr>
            </a:pPr>
            <a:r>
              <a:t>Why Normalization Matters</a:t>
            </a:r>
          </a:p>
        </p:txBody>
      </p:sp>
      <p:sp>
        <p:nvSpPr>
          <p:cNvPr id="16" name="TextBox 15"/>
          <p:cNvSpPr txBox="1"/>
          <p:nvPr/>
        </p:nvSpPr>
        <p:spPr>
          <a:xfrm>
            <a:off x="7086600" y="2788920"/>
            <a:ext cx="4069080" cy="1234440"/>
          </a:xfrm>
          <a:prstGeom prst="rect">
            <a:avLst/>
          </a:prstGeom>
          <a:noFill/>
        </p:spPr>
        <p:txBody>
          <a:bodyPr wrap="square" lIns="0" tIns="0" rIns="0" bIns="0">
            <a:spAutoFit/>
          </a:bodyPr>
          <a:lstStyle/>
          <a:p>
            <a:pPr>
              <a:defRPr sz="950">
                <a:solidFill>
                  <a:srgbClr val="5E5550"/>
                </a:solidFill>
                <a:latin typeface="Calibri"/>
              </a:defRPr>
            </a:pPr>
            <a:r>
              <a:t>• Gross Kilograms (kg): Indicates total handling volume and physical disposal load.</a:t>
            </a:r>
          </a:p>
          <a:p>
            <a:pPr>
              <a:spcBef>
                <a:spcPts val="300"/>
              </a:spcBef>
              <a:defRPr sz="950">
                <a:solidFill>
                  <a:srgbClr val="5E5550"/>
                </a:solidFill>
                <a:latin typeface="Calibri"/>
              </a:defRPr>
            </a:pPr>
            <a:r>
              <a:t>• Waste Percentage (%): Measures kitchen batch accuracy relative to total cooked volume.</a:t>
            </a:r>
          </a:p>
          <a:p>
            <a:pPr>
              <a:spcBef>
                <a:spcPts val="300"/>
              </a:spcBef>
              <a:defRPr sz="950">
                <a:solidFill>
                  <a:srgbClr val="5E5550"/>
                </a:solidFill>
                <a:latin typeface="Calibri"/>
              </a:defRPr>
            </a:pPr>
            <a:r>
              <a:t>• Grams per Guest (g/PAX): The gold standard hospitality benchmark. Evaluates whether 50kg waste came from 200 guests (crisis) or 2,000 guests (highly efficient).</a:t>
            </a:r>
          </a:p>
        </p:txBody>
      </p:sp>
      <p:sp>
        <p:nvSpPr>
          <p:cNvPr id="17" name="Rounded Rectangle 16"/>
          <p:cNvSpPr/>
          <p:nvPr/>
        </p:nvSpPr>
        <p:spPr>
          <a:xfrm>
            <a:off x="6858000" y="4251960"/>
            <a:ext cx="4553712" cy="182880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86600" y="4434840"/>
            <a:ext cx="164592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MULTI-STREAM TOGGLES</a:t>
            </a:r>
          </a:p>
        </p:txBody>
      </p:sp>
      <p:sp>
        <p:nvSpPr>
          <p:cNvPr id="19" name="TextBox 18"/>
          <p:cNvSpPr txBox="1"/>
          <p:nvPr/>
        </p:nvSpPr>
        <p:spPr>
          <a:xfrm>
            <a:off x="7086600" y="4736592"/>
            <a:ext cx="4069080" cy="320040"/>
          </a:xfrm>
          <a:prstGeom prst="rect">
            <a:avLst/>
          </a:prstGeom>
          <a:noFill/>
        </p:spPr>
        <p:txBody>
          <a:bodyPr wrap="none" lIns="0" tIns="0" rIns="0" bIns="0">
            <a:spAutoFit/>
          </a:bodyPr>
          <a:lstStyle/>
          <a:p>
            <a:pPr>
              <a:defRPr sz="1500" b="1">
                <a:solidFill>
                  <a:srgbClr val="2B161F"/>
                </a:solidFill>
                <a:latin typeface="Georgia"/>
              </a:defRPr>
            </a:pPr>
            <a:r>
              <a:t>Tracking Cross-Stream Dynamics</a:t>
            </a:r>
          </a:p>
        </p:txBody>
      </p:sp>
      <p:sp>
        <p:nvSpPr>
          <p:cNvPr id="20" name="TextBox 19"/>
          <p:cNvSpPr txBox="1"/>
          <p:nvPr/>
        </p:nvSpPr>
        <p:spPr>
          <a:xfrm>
            <a:off x="7086600" y="5074920"/>
            <a:ext cx="4069080" cy="914400"/>
          </a:xfrm>
          <a:prstGeom prst="rect">
            <a:avLst/>
          </a:prstGeom>
          <a:noFill/>
        </p:spPr>
        <p:txBody>
          <a:bodyPr wrap="square" lIns="0" tIns="0" rIns="0" bIns="0">
            <a:spAutoFit/>
          </a:bodyPr>
          <a:lstStyle/>
          <a:p>
            <a:pPr>
              <a:defRPr sz="950">
                <a:solidFill>
                  <a:srgbClr val="5E5550"/>
                </a:solidFill>
                <a:latin typeface="Calibri"/>
              </a:defRPr>
            </a:pPr>
            <a:r>
              <a:t>• Metric Toggles: Seamlessly switch views between Production, Consumption, Final Waste, Leftover, and Reused.</a:t>
            </a:r>
          </a:p>
          <a:p>
            <a:pPr>
              <a:spcBef>
                <a:spcPts val="200"/>
              </a:spcBef>
              <a:defRPr sz="950">
                <a:solidFill>
                  <a:srgbClr val="5E5550"/>
                </a:solidFill>
                <a:latin typeface="Calibri"/>
              </a:defRPr>
            </a:pPr>
            <a:r>
              <a:t>• Management Insight: Verifies whether waste reduction is driven by leaner cooking batches or improved leftover recovery.</a:t>
            </a:r>
          </a:p>
          <a:p>
            <a:pPr>
              <a:spcBef>
                <a:spcPts val="200"/>
              </a:spcBef>
              <a:defRPr sz="950">
                <a:solidFill>
                  <a:srgbClr val="5E5550"/>
                </a:solidFill>
                <a:latin typeface="Calibri"/>
              </a:defRPr>
            </a:pPr>
            <a:r>
              <a:t>• Rolling Averages: Computes daily average production and grams per guest to smooth out weekend banquet fluctuations.</a:t>
            </a:r>
          </a:p>
        </p:txBody>
      </p:sp>
      <p:sp>
        <p:nvSpPr>
          <p:cNvPr id="21" name="Rectangle 20"/>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3" name="TextBox 22"/>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4" name="TextBox 23"/>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07 / OPERATING CONTEXT</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Find Out Which Operating Context Needs Attention</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Grouping performance by meal shift and service format pinpoints structural operational differences across banquet and outlet operations.</a:t>
            </a:r>
          </a:p>
        </p:txBody>
      </p:sp>
      <p:sp>
        <p:nvSpPr>
          <p:cNvPr id="6" name="Rounded Rectangle 5"/>
          <p:cNvSpPr/>
          <p:nvPr/>
        </p:nvSpPr>
        <p:spPr>
          <a:xfrm>
            <a:off x="777240" y="1965960"/>
            <a:ext cx="58521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session_service.png"/>
          <p:cNvPicPr>
            <a:picLocks noChangeAspect="1"/>
          </p:cNvPicPr>
          <p:nvPr/>
        </p:nvPicPr>
        <p:blipFill>
          <a:blip r:embed="rId2"/>
          <a:stretch>
            <a:fillRect/>
          </a:stretch>
        </p:blipFill>
        <p:spPr>
          <a:xfrm>
            <a:off x="914400" y="2084831"/>
            <a:ext cx="5577840" cy="2112264"/>
          </a:xfrm>
          <a:prstGeom prst="rect">
            <a:avLst/>
          </a:prstGeom>
        </p:spPr>
      </p:pic>
      <p:sp>
        <p:nvSpPr>
          <p:cNvPr id="8" name="TextBox 7"/>
          <p:cNvSpPr txBox="1"/>
          <p:nvPr/>
        </p:nvSpPr>
        <p:spPr>
          <a:xfrm>
            <a:off x="914400" y="4233672"/>
            <a:ext cx="5577840" cy="182880"/>
          </a:xfrm>
          <a:prstGeom prst="rect">
            <a:avLst/>
          </a:prstGeom>
          <a:noFill/>
        </p:spPr>
        <p:txBody>
          <a:bodyPr wrap="none" lIns="0" tIns="0" rIns="0" bIns="0">
            <a:spAutoFit/>
          </a:bodyPr>
          <a:lstStyle/>
          <a:p>
            <a:pPr>
              <a:defRPr sz="850">
                <a:solidFill>
                  <a:srgbClr val="8A7C74"/>
                </a:solidFill>
                <a:latin typeface="Calibri"/>
              </a:defRPr>
            </a:pPr>
            <a:r>
              <a:t>Current interface snapshot: Session-wise Breakdown &amp; Service Type Operational Yield.</a:t>
            </a:r>
          </a:p>
        </p:txBody>
      </p:sp>
      <p:sp>
        <p:nvSpPr>
          <p:cNvPr id="9" name="Rounded Rectangle 8"/>
          <p:cNvSpPr/>
          <p:nvPr/>
        </p:nvSpPr>
        <p:spPr>
          <a:xfrm>
            <a:off x="914400" y="4480560"/>
            <a:ext cx="5577840" cy="146304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4590288"/>
            <a:ext cx="192024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OPERATIONAL SHIFT AUDIT</a:t>
            </a:r>
          </a:p>
        </p:txBody>
      </p:sp>
      <p:sp>
        <p:nvSpPr>
          <p:cNvPr id="11" name="TextBox 10"/>
          <p:cNvSpPr txBox="1"/>
          <p:nvPr/>
        </p:nvSpPr>
        <p:spPr>
          <a:xfrm>
            <a:off x="1051560" y="4846320"/>
            <a:ext cx="5303520" cy="256032"/>
          </a:xfrm>
          <a:prstGeom prst="rect">
            <a:avLst/>
          </a:prstGeom>
          <a:noFill/>
        </p:spPr>
        <p:txBody>
          <a:bodyPr wrap="none" lIns="0" tIns="0" rIns="0" bIns="0">
            <a:spAutoFit/>
          </a:bodyPr>
          <a:lstStyle/>
          <a:p>
            <a:pPr>
              <a:defRPr sz="1200" b="1">
                <a:solidFill>
                  <a:srgbClr val="2B161F"/>
                </a:solidFill>
                <a:latin typeface="Georgia"/>
              </a:defRPr>
            </a:pPr>
            <a:r>
              <a:t>Key Session Yield Observations</a:t>
            </a:r>
          </a:p>
        </p:txBody>
      </p:sp>
      <p:sp>
        <p:nvSpPr>
          <p:cNvPr id="12" name="TextBox 11"/>
          <p:cNvSpPr txBox="1"/>
          <p:nvPr/>
        </p:nvSpPr>
        <p:spPr>
          <a:xfrm>
            <a:off x="1051560" y="5102352"/>
            <a:ext cx="5303520" cy="777240"/>
          </a:xfrm>
          <a:prstGeom prst="rect">
            <a:avLst/>
          </a:prstGeom>
          <a:noFill/>
        </p:spPr>
        <p:txBody>
          <a:bodyPr wrap="square" lIns="0" tIns="0" rIns="0" bIns="0">
            <a:spAutoFit/>
          </a:bodyPr>
          <a:lstStyle/>
          <a:p>
            <a:pPr>
              <a:defRPr sz="950">
                <a:solidFill>
                  <a:srgbClr val="5E5550"/>
                </a:solidFill>
                <a:latin typeface="Calibri"/>
              </a:defRPr>
            </a:pPr>
            <a:r>
              <a:t>• Dinner Shift Disproportion: Dinner accounts for over 58% of aggregate daily waste due to late-buffet presentation requirements.</a:t>
            </a:r>
          </a:p>
          <a:p>
            <a:pPr>
              <a:spcBef>
                <a:spcPts val="300"/>
              </a:spcBef>
              <a:defRPr sz="950">
                <a:solidFill>
                  <a:srgbClr val="5E5550"/>
                </a:solidFill>
                <a:latin typeface="Calibri"/>
              </a:defRPr>
            </a:pPr>
            <a:r>
              <a:t>• Buffet Pan Tapering SOP: Implementing half-pan replenishment in the final 45 minutes saves ~15–20% without impacting guest satisfaction.</a:t>
            </a:r>
          </a:p>
        </p:txBody>
      </p:sp>
      <p:sp>
        <p:nvSpPr>
          <p:cNvPr id="13" name="Rounded Rectangle 12"/>
          <p:cNvSpPr/>
          <p:nvPr/>
        </p:nvSpPr>
        <p:spPr>
          <a:xfrm>
            <a:off x="6858000" y="1965960"/>
            <a:ext cx="4553712" cy="214884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86600" y="2148840"/>
            <a:ext cx="146304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SHIFT PROFILES</a:t>
            </a:r>
          </a:p>
        </p:txBody>
      </p:sp>
      <p:sp>
        <p:nvSpPr>
          <p:cNvPr id="15" name="TextBox 14"/>
          <p:cNvSpPr txBox="1"/>
          <p:nvPr/>
        </p:nvSpPr>
        <p:spPr>
          <a:xfrm>
            <a:off x="7086600" y="2450592"/>
            <a:ext cx="4069080" cy="320040"/>
          </a:xfrm>
          <a:prstGeom prst="rect">
            <a:avLst/>
          </a:prstGeom>
          <a:noFill/>
        </p:spPr>
        <p:txBody>
          <a:bodyPr wrap="none" lIns="0" tIns="0" rIns="0" bIns="0">
            <a:spAutoFit/>
          </a:bodyPr>
          <a:lstStyle/>
          <a:p>
            <a:pPr>
              <a:defRPr sz="1500" b="1">
                <a:solidFill>
                  <a:srgbClr val="2B161F"/>
                </a:solidFill>
                <a:latin typeface="Georgia"/>
              </a:defRPr>
            </a:pPr>
            <a:r>
              <a:t>Session-Wise Dynamics</a:t>
            </a:r>
          </a:p>
        </p:txBody>
      </p:sp>
      <p:sp>
        <p:nvSpPr>
          <p:cNvPr id="16" name="TextBox 15"/>
          <p:cNvSpPr txBox="1"/>
          <p:nvPr/>
        </p:nvSpPr>
        <p:spPr>
          <a:xfrm>
            <a:off x="7086600" y="2788920"/>
            <a:ext cx="4069080" cy="1234440"/>
          </a:xfrm>
          <a:prstGeom prst="rect">
            <a:avLst/>
          </a:prstGeom>
          <a:noFill/>
        </p:spPr>
        <p:txBody>
          <a:bodyPr wrap="square" lIns="0" tIns="0" rIns="0" bIns="0">
            <a:spAutoFit/>
          </a:bodyPr>
          <a:lstStyle/>
          <a:p>
            <a:pPr>
              <a:defRPr sz="950" b="0">
                <a:solidFill>
                  <a:srgbClr val="5E5550"/>
                </a:solidFill>
                <a:latin typeface="Calibri"/>
              </a:defRPr>
            </a:pPr>
            <a:r>
              <a:t>• Breakfast: Standardized pickups, high predictability, low waste intensity.</a:t>
            </a:r>
          </a:p>
          <a:p>
            <a:pPr>
              <a:spcBef>
                <a:spcPts val="200"/>
              </a:spcBef>
              <a:defRPr sz="950" b="0">
                <a:solidFill>
                  <a:srgbClr val="5E5550"/>
                </a:solidFill>
                <a:latin typeface="Calibri"/>
              </a:defRPr>
            </a:pPr>
            <a:r>
              <a:t>• Lunch: High turnover, compact service window, moderate buffet recovery.</a:t>
            </a:r>
          </a:p>
          <a:p>
            <a:pPr>
              <a:spcBef>
                <a:spcPts val="200"/>
              </a:spcBef>
              <a:defRPr sz="950" b="1">
                <a:solidFill>
                  <a:srgbClr val="C34F2A"/>
                </a:solidFill>
                <a:latin typeface="Calibri"/>
              </a:defRPr>
            </a:pPr>
            <a:r>
              <a:t>• Dinner: Consistently highest waste intensity due to prolonged service holding and late-buffet presentation requirements.</a:t>
            </a:r>
          </a:p>
          <a:p>
            <a:pPr>
              <a:spcBef>
                <a:spcPts val="200"/>
              </a:spcBef>
              <a:defRPr sz="950" b="0">
                <a:solidFill>
                  <a:srgbClr val="5E5550"/>
                </a:solidFill>
                <a:latin typeface="Calibri"/>
              </a:defRPr>
            </a:pPr>
            <a:r>
              <a:t>• Snacks / Hi-Tea: Variable pickup; sensitive to precise conference timing.</a:t>
            </a:r>
          </a:p>
        </p:txBody>
      </p:sp>
      <p:sp>
        <p:nvSpPr>
          <p:cNvPr id="17" name="Rounded Rectangle 16"/>
          <p:cNvSpPr/>
          <p:nvPr/>
        </p:nvSpPr>
        <p:spPr>
          <a:xfrm>
            <a:off x="6858000" y="4251960"/>
            <a:ext cx="4553712" cy="182880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86600" y="4434840"/>
            <a:ext cx="146304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SERVICE YIELD</a:t>
            </a:r>
          </a:p>
        </p:txBody>
      </p:sp>
      <p:sp>
        <p:nvSpPr>
          <p:cNvPr id="19" name="TextBox 18"/>
          <p:cNvSpPr txBox="1"/>
          <p:nvPr/>
        </p:nvSpPr>
        <p:spPr>
          <a:xfrm>
            <a:off x="7086600" y="4736592"/>
            <a:ext cx="4069080" cy="320040"/>
          </a:xfrm>
          <a:prstGeom prst="rect">
            <a:avLst/>
          </a:prstGeom>
          <a:noFill/>
        </p:spPr>
        <p:txBody>
          <a:bodyPr wrap="none" lIns="0" tIns="0" rIns="0" bIns="0">
            <a:spAutoFit/>
          </a:bodyPr>
          <a:lstStyle/>
          <a:p>
            <a:pPr>
              <a:defRPr sz="1500" b="1">
                <a:solidFill>
                  <a:srgbClr val="2B161F"/>
                </a:solidFill>
                <a:latin typeface="Georgia"/>
              </a:defRPr>
            </a:pPr>
            <a:r>
              <a:t>Buffet vs Banquet vs À la Carte</a:t>
            </a:r>
          </a:p>
        </p:txBody>
      </p:sp>
      <p:sp>
        <p:nvSpPr>
          <p:cNvPr id="20" name="TextBox 19"/>
          <p:cNvSpPr txBox="1"/>
          <p:nvPr/>
        </p:nvSpPr>
        <p:spPr>
          <a:xfrm>
            <a:off x="7086600" y="5074920"/>
            <a:ext cx="4069080" cy="914400"/>
          </a:xfrm>
          <a:prstGeom prst="rect">
            <a:avLst/>
          </a:prstGeom>
          <a:noFill/>
        </p:spPr>
        <p:txBody>
          <a:bodyPr wrap="square" lIns="0" tIns="0" rIns="0" bIns="0">
            <a:spAutoFit/>
          </a:bodyPr>
          <a:lstStyle/>
          <a:p>
            <a:pPr>
              <a:defRPr sz="950" b="0">
                <a:solidFill>
                  <a:srgbClr val="5E5550"/>
                </a:solidFill>
                <a:latin typeface="Calibri"/>
              </a:defRPr>
            </a:pPr>
            <a:r>
              <a:t>• Buffets: Suffer from 'full pan' visual presentation pressure until closing.</a:t>
            </a:r>
          </a:p>
          <a:p>
            <a:pPr>
              <a:spcBef>
                <a:spcPts val="200"/>
              </a:spcBef>
              <a:defRPr sz="950" b="0">
                <a:solidFill>
                  <a:srgbClr val="5E5550"/>
                </a:solidFill>
                <a:latin typeface="Calibri"/>
              </a:defRPr>
            </a:pPr>
            <a:r>
              <a:t>• Banquets: High volume, fixed menus, contractual over-buffering against guarantees.</a:t>
            </a:r>
          </a:p>
          <a:p>
            <a:pPr>
              <a:spcBef>
                <a:spcPts val="200"/>
              </a:spcBef>
              <a:defRPr sz="950" b="0">
                <a:solidFill>
                  <a:srgbClr val="5E5550"/>
                </a:solidFill>
                <a:latin typeface="Calibri"/>
              </a:defRPr>
            </a:pPr>
            <a:r>
              <a:t>• À la Carte: On-demand preparation delivers tightest margins and lowest waste (~3–5%).</a:t>
            </a:r>
          </a:p>
          <a:p>
            <a:pPr>
              <a:spcBef>
                <a:spcPts val="200"/>
              </a:spcBef>
              <a:defRPr sz="950" b="1">
                <a:solidFill>
                  <a:srgbClr val="2B161F"/>
                </a:solidFill>
                <a:latin typeface="Calibri"/>
              </a:defRPr>
            </a:pPr>
            <a:r>
              <a:t>• Targeted Action: Interventions focus specifically where 85%+ of waste occurs: Buffets &amp; Banquets.</a:t>
            </a:r>
          </a:p>
        </p:txBody>
      </p:sp>
      <p:sp>
        <p:nvSpPr>
          <p:cNvPr id="21" name="Rectangle 20"/>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3" name="TextBox 22"/>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4" name="TextBox 23"/>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08 / BANQUET &amp; EVENT INTELLIGENCE</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Review One Event, Then Compare Like-for-Like Events</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Granular function records enable event-by-event post-mortems while building historical benchmarks across event categories.</a:t>
            </a:r>
          </a:p>
        </p:txBody>
      </p:sp>
      <p:sp>
        <p:nvSpPr>
          <p:cNvPr id="6" name="Rounded Rectangle 5"/>
          <p:cNvSpPr/>
          <p:nvPr/>
        </p:nvSpPr>
        <p:spPr>
          <a:xfrm>
            <a:off x="777240" y="1965960"/>
            <a:ext cx="58521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banquet_events.png"/>
          <p:cNvPicPr>
            <a:picLocks noChangeAspect="1"/>
          </p:cNvPicPr>
          <p:nvPr/>
        </p:nvPicPr>
        <p:blipFill>
          <a:blip r:embed="rId2"/>
          <a:stretch>
            <a:fillRect/>
          </a:stretch>
        </p:blipFill>
        <p:spPr>
          <a:xfrm>
            <a:off x="914400" y="2084831"/>
            <a:ext cx="5577840" cy="2185416"/>
          </a:xfrm>
          <a:prstGeom prst="rect">
            <a:avLst/>
          </a:prstGeom>
        </p:spPr>
      </p:pic>
      <p:sp>
        <p:nvSpPr>
          <p:cNvPr id="8" name="TextBox 7"/>
          <p:cNvSpPr txBox="1"/>
          <p:nvPr/>
        </p:nvSpPr>
        <p:spPr>
          <a:xfrm>
            <a:off x="914400" y="4306824"/>
            <a:ext cx="5577840" cy="182880"/>
          </a:xfrm>
          <a:prstGeom prst="rect">
            <a:avLst/>
          </a:prstGeom>
          <a:noFill/>
        </p:spPr>
        <p:txBody>
          <a:bodyPr wrap="none" lIns="0" tIns="0" rIns="0" bIns="0">
            <a:spAutoFit/>
          </a:bodyPr>
          <a:lstStyle/>
          <a:p>
            <a:pPr>
              <a:defRPr sz="850">
                <a:solidFill>
                  <a:srgbClr val="8A7C74"/>
                </a:solidFill>
                <a:latin typeface="Calibri"/>
              </a:defRPr>
            </a:pPr>
            <a:r>
              <a:t>Current interface snapshot: Banquet Event Performance Table with configurable thresholds.</a:t>
            </a:r>
          </a:p>
        </p:txBody>
      </p:sp>
      <p:sp>
        <p:nvSpPr>
          <p:cNvPr id="9" name="Rounded Rectangle 8"/>
          <p:cNvSpPr/>
          <p:nvPr/>
        </p:nvSpPr>
        <p:spPr>
          <a:xfrm>
            <a:off x="914400" y="4553712"/>
            <a:ext cx="5577840" cy="1389888"/>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4663440"/>
            <a:ext cx="192024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FUNCTION AUDIT CRITERIA</a:t>
            </a:r>
          </a:p>
        </p:txBody>
      </p:sp>
      <p:sp>
        <p:nvSpPr>
          <p:cNvPr id="11" name="TextBox 10"/>
          <p:cNvSpPr txBox="1"/>
          <p:nvPr/>
        </p:nvSpPr>
        <p:spPr>
          <a:xfrm>
            <a:off x="1051560" y="4919472"/>
            <a:ext cx="5303520" cy="256032"/>
          </a:xfrm>
          <a:prstGeom prst="rect">
            <a:avLst/>
          </a:prstGeom>
          <a:noFill/>
        </p:spPr>
        <p:txBody>
          <a:bodyPr wrap="none" lIns="0" tIns="0" rIns="0" bIns="0">
            <a:spAutoFit/>
          </a:bodyPr>
          <a:lstStyle/>
          <a:p>
            <a:pPr>
              <a:defRPr sz="1200" b="1">
                <a:solidFill>
                  <a:srgbClr val="2B161F"/>
                </a:solidFill>
                <a:latin typeface="Georgia"/>
              </a:defRPr>
            </a:pPr>
            <a:r>
              <a:t>Automated BEO Threshold Triggers</a:t>
            </a:r>
          </a:p>
        </p:txBody>
      </p:sp>
      <p:sp>
        <p:nvSpPr>
          <p:cNvPr id="12" name="TextBox 11"/>
          <p:cNvSpPr txBox="1"/>
          <p:nvPr/>
        </p:nvSpPr>
        <p:spPr>
          <a:xfrm>
            <a:off x="1051560" y="5175504"/>
            <a:ext cx="5303520" cy="713232"/>
          </a:xfrm>
          <a:prstGeom prst="rect">
            <a:avLst/>
          </a:prstGeom>
          <a:noFill/>
        </p:spPr>
        <p:txBody>
          <a:bodyPr wrap="square" lIns="0" tIns="0" rIns="0" bIns="0">
            <a:spAutoFit/>
          </a:bodyPr>
          <a:lstStyle/>
          <a:p>
            <a:pPr>
              <a:defRPr sz="950">
                <a:solidFill>
                  <a:srgbClr val="5E5550"/>
                </a:solidFill>
                <a:latin typeface="Calibri"/>
              </a:defRPr>
            </a:pPr>
            <a:r>
              <a:t>• Guaranteed vs Actual Variance: Instantly flags events where guest turnout deviated by &gt;15% from contract guarantee.</a:t>
            </a:r>
          </a:p>
          <a:p>
            <a:pPr>
              <a:spcBef>
                <a:spcPts val="300"/>
              </a:spcBef>
              <a:defRPr sz="950">
                <a:solidFill>
                  <a:srgbClr val="5E5550"/>
                </a:solidFill>
                <a:latin typeface="Calibri"/>
              </a:defRPr>
            </a:pPr>
            <a:r>
              <a:t>• Margin Protection: Prevents unfair attribution of client no-shows to kitchen overproduction.</a:t>
            </a:r>
          </a:p>
        </p:txBody>
      </p:sp>
      <p:sp>
        <p:nvSpPr>
          <p:cNvPr id="13" name="Rounded Rectangle 12"/>
          <p:cNvSpPr/>
          <p:nvPr/>
        </p:nvSpPr>
        <p:spPr>
          <a:xfrm>
            <a:off x="6858000" y="1965960"/>
            <a:ext cx="4553712" cy="224028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86600" y="2148840"/>
            <a:ext cx="164592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EVENT AUDIT MATRIX</a:t>
            </a:r>
          </a:p>
        </p:txBody>
      </p:sp>
      <p:sp>
        <p:nvSpPr>
          <p:cNvPr id="15" name="TextBox 14"/>
          <p:cNvSpPr txBox="1"/>
          <p:nvPr/>
        </p:nvSpPr>
        <p:spPr>
          <a:xfrm>
            <a:off x="7086600" y="2450592"/>
            <a:ext cx="4069080" cy="320040"/>
          </a:xfrm>
          <a:prstGeom prst="rect">
            <a:avLst/>
          </a:prstGeom>
          <a:noFill/>
        </p:spPr>
        <p:txBody>
          <a:bodyPr wrap="none" lIns="0" tIns="0" rIns="0" bIns="0">
            <a:spAutoFit/>
          </a:bodyPr>
          <a:lstStyle/>
          <a:p>
            <a:pPr>
              <a:defRPr sz="1500" b="1">
                <a:solidFill>
                  <a:srgbClr val="2B161F"/>
                </a:solidFill>
                <a:latin typeface="Georgia"/>
              </a:defRPr>
            </a:pPr>
            <a:r>
              <a:t>Comprehensive Function Auditing</a:t>
            </a:r>
          </a:p>
        </p:txBody>
      </p:sp>
      <p:sp>
        <p:nvSpPr>
          <p:cNvPr id="16" name="TextBox 15"/>
          <p:cNvSpPr txBox="1"/>
          <p:nvPr/>
        </p:nvSpPr>
        <p:spPr>
          <a:xfrm>
            <a:off x="7086600" y="2788920"/>
            <a:ext cx="4069080" cy="1325880"/>
          </a:xfrm>
          <a:prstGeom prst="rect">
            <a:avLst/>
          </a:prstGeom>
          <a:noFill/>
        </p:spPr>
        <p:txBody>
          <a:bodyPr wrap="square" lIns="0" tIns="0" rIns="0" bIns="0">
            <a:spAutoFit/>
          </a:bodyPr>
          <a:lstStyle/>
          <a:p>
            <a:pPr>
              <a:defRPr sz="950">
                <a:solidFill>
                  <a:srgbClr val="5E5550"/>
                </a:solidFill>
                <a:latin typeface="Calibri"/>
              </a:defRPr>
            </a:pPr>
            <a:r>
              <a:t>• Event Metadata: Function Name, Hall (Sitara, Sahara), Date, and Guaranteed PAX.</a:t>
            </a:r>
          </a:p>
          <a:p>
            <a:pPr>
              <a:spcBef>
                <a:spcPts val="250"/>
              </a:spcBef>
              <a:defRPr sz="950">
                <a:solidFill>
                  <a:srgbClr val="5E5550"/>
                </a:solidFill>
                <a:latin typeface="Calibri"/>
              </a:defRPr>
            </a:pPr>
            <a:r>
              <a:t>• Volume Reconciliation: Estimated Requirement vs Actual Cooked vs Consumed kilograms.</a:t>
            </a:r>
          </a:p>
          <a:p>
            <a:pPr>
              <a:spcBef>
                <a:spcPts val="250"/>
              </a:spcBef>
              <a:defRPr sz="950">
                <a:solidFill>
                  <a:srgbClr val="5E5550"/>
                </a:solidFill>
                <a:latin typeface="Calibri"/>
              </a:defRPr>
            </a:pPr>
            <a:r>
              <a:t>• Disposition Tracking: Leftovers recovered, safely reused, and final discarded kilograms.</a:t>
            </a:r>
          </a:p>
          <a:p>
            <a:pPr>
              <a:spcBef>
                <a:spcPts val="250"/>
              </a:spcBef>
              <a:defRPr sz="950">
                <a:solidFill>
                  <a:srgbClr val="5E5550"/>
                </a:solidFill>
                <a:latin typeface="Calibri"/>
              </a:defRPr>
            </a:pPr>
            <a:r>
              <a:t>• Financial Impact: Total Waste Cost (₹) and Cost per PAX.</a:t>
            </a:r>
          </a:p>
          <a:p>
            <a:pPr>
              <a:spcBef>
                <a:spcPts val="250"/>
              </a:spcBef>
              <a:defRPr sz="950">
                <a:solidFill>
                  <a:srgbClr val="5E5550"/>
                </a:solidFill>
                <a:latin typeface="Calibri"/>
              </a:defRPr>
            </a:pPr>
            <a:r>
              <a:t>• Compliance Status: Automated status pill (Compliant, Review, Critical) via configurable thresholds.</a:t>
            </a:r>
          </a:p>
        </p:txBody>
      </p:sp>
      <p:sp>
        <p:nvSpPr>
          <p:cNvPr id="17" name="Rounded Rectangle 16"/>
          <p:cNvSpPr/>
          <p:nvPr/>
        </p:nvSpPr>
        <p:spPr>
          <a:xfrm>
            <a:off x="6858000" y="4343400"/>
            <a:ext cx="4553712" cy="173736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86600" y="4526280"/>
            <a:ext cx="173736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EVENT BENCHMARKING</a:t>
            </a:r>
          </a:p>
        </p:txBody>
      </p:sp>
      <p:sp>
        <p:nvSpPr>
          <p:cNvPr id="19" name="TextBox 18"/>
          <p:cNvSpPr txBox="1"/>
          <p:nvPr/>
        </p:nvSpPr>
        <p:spPr>
          <a:xfrm>
            <a:off x="7086600" y="4828032"/>
            <a:ext cx="4069080" cy="320040"/>
          </a:xfrm>
          <a:prstGeom prst="rect">
            <a:avLst/>
          </a:prstGeom>
          <a:noFill/>
        </p:spPr>
        <p:txBody>
          <a:bodyPr wrap="none" lIns="0" tIns="0" rIns="0" bIns="0">
            <a:spAutoFit/>
          </a:bodyPr>
          <a:lstStyle/>
          <a:p>
            <a:pPr>
              <a:defRPr sz="1500" b="1">
                <a:solidFill>
                  <a:srgbClr val="2B161F"/>
                </a:solidFill>
                <a:latin typeface="Georgia"/>
              </a:defRPr>
            </a:pPr>
            <a:r>
              <a:t>Like-for-Like Event Analysis</a:t>
            </a:r>
          </a:p>
        </p:txBody>
      </p:sp>
      <p:sp>
        <p:nvSpPr>
          <p:cNvPr id="20" name="TextBox 19"/>
          <p:cNvSpPr txBox="1"/>
          <p:nvPr/>
        </p:nvSpPr>
        <p:spPr>
          <a:xfrm>
            <a:off x="7086600" y="5138928"/>
            <a:ext cx="4069080" cy="868680"/>
          </a:xfrm>
          <a:prstGeom prst="rect">
            <a:avLst/>
          </a:prstGeom>
          <a:noFill/>
        </p:spPr>
        <p:txBody>
          <a:bodyPr wrap="square" lIns="0" tIns="0" rIns="0" bIns="0">
            <a:spAutoFit/>
          </a:bodyPr>
          <a:lstStyle/>
          <a:p>
            <a:pPr>
              <a:defRPr sz="950">
                <a:solidFill>
                  <a:srgbClr val="5E5550"/>
                </a:solidFill>
                <a:latin typeface="Calibri"/>
              </a:defRPr>
            </a:pPr>
            <a:r>
              <a:t>• Event Type Segmentation: Compare lavish wedding banquets against corporate seminars of identical PAX.</a:t>
            </a:r>
          </a:p>
          <a:p>
            <a:pPr>
              <a:spcBef>
                <a:spcPts val="200"/>
              </a:spcBef>
              <a:defRPr sz="950">
                <a:solidFill>
                  <a:srgbClr val="5E5550"/>
                </a:solidFill>
                <a:latin typeface="Calibri"/>
              </a:defRPr>
            </a:pPr>
            <a:r>
              <a:t>• Menu Complexity Impact: Evaluate whether 10-course buffets generate 40% more waste than 6-course formats.</a:t>
            </a:r>
          </a:p>
          <a:p>
            <a:pPr>
              <a:spcBef>
                <a:spcPts val="200"/>
              </a:spcBef>
              <a:defRPr sz="950">
                <a:solidFill>
                  <a:srgbClr val="5E5550"/>
                </a:solidFill>
                <a:latin typeface="Calibri"/>
              </a:defRPr>
            </a:pPr>
            <a:r>
              <a:t>• Sales Feedback Loop: Feeds actual PAX eating patterns directly back into banquet sales contracts.</a:t>
            </a:r>
          </a:p>
        </p:txBody>
      </p:sp>
      <p:sp>
        <p:nvSpPr>
          <p:cNvPr id="21" name="Rectangle 20"/>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3" name="TextBox 22"/>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4" name="TextBox 23"/>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09 / DISH &amp; TIME INTELLIGENCE</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Move From Total Waste to the Specific Dishes and Periods Behind It</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Combining item-level Pareto rankings with temporal heatmaps directs culinary focus to the high-impact recipes and recurring shift windows.</a:t>
            </a:r>
          </a:p>
        </p:txBody>
      </p:sp>
      <p:sp>
        <p:nvSpPr>
          <p:cNvPr id="6" name="Rounded Rectangle 5"/>
          <p:cNvSpPr/>
          <p:nvPr/>
        </p:nvSpPr>
        <p:spPr>
          <a:xfrm>
            <a:off x="777240" y="1965960"/>
            <a:ext cx="5166360" cy="22860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dish_ranking.png"/>
          <p:cNvPicPr>
            <a:picLocks noChangeAspect="1"/>
          </p:cNvPicPr>
          <p:nvPr/>
        </p:nvPicPr>
        <p:blipFill>
          <a:blip r:embed="rId2"/>
          <a:stretch>
            <a:fillRect/>
          </a:stretch>
        </p:blipFill>
        <p:spPr>
          <a:xfrm>
            <a:off x="868680" y="2057400"/>
            <a:ext cx="4983480" cy="1965960"/>
          </a:xfrm>
          <a:prstGeom prst="rect">
            <a:avLst/>
          </a:prstGeom>
        </p:spPr>
      </p:pic>
      <p:sp>
        <p:nvSpPr>
          <p:cNvPr id="8" name="TextBox 7"/>
          <p:cNvSpPr txBox="1"/>
          <p:nvPr/>
        </p:nvSpPr>
        <p:spPr>
          <a:xfrm>
            <a:off x="868680" y="4041648"/>
            <a:ext cx="4983480" cy="182880"/>
          </a:xfrm>
          <a:prstGeom prst="rect">
            <a:avLst/>
          </a:prstGeom>
          <a:noFill/>
        </p:spPr>
        <p:txBody>
          <a:bodyPr wrap="none" lIns="0" tIns="0" rIns="0" bIns="0">
            <a:spAutoFit/>
          </a:bodyPr>
          <a:lstStyle/>
          <a:p>
            <a:pPr>
              <a:defRPr sz="850">
                <a:solidFill>
                  <a:srgbClr val="8A7C74"/>
                </a:solidFill>
                <a:latin typeface="Calibri"/>
              </a:defRPr>
            </a:pPr>
            <a:r>
              <a:t>Current UI: Dish-level waste ranking &amp; Pareto distribution.</a:t>
            </a:r>
          </a:p>
        </p:txBody>
      </p:sp>
      <p:sp>
        <p:nvSpPr>
          <p:cNvPr id="9" name="Rounded Rectangle 8"/>
          <p:cNvSpPr/>
          <p:nvPr/>
        </p:nvSpPr>
        <p:spPr>
          <a:xfrm>
            <a:off x="6126480" y="1965960"/>
            <a:ext cx="5285232" cy="22860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i_heatmap.png"/>
          <p:cNvPicPr>
            <a:picLocks noChangeAspect="1"/>
          </p:cNvPicPr>
          <p:nvPr/>
        </p:nvPicPr>
        <p:blipFill>
          <a:blip r:embed="rId3"/>
          <a:stretch>
            <a:fillRect/>
          </a:stretch>
        </p:blipFill>
        <p:spPr>
          <a:xfrm>
            <a:off x="6217920" y="2057400"/>
            <a:ext cx="5102352" cy="1965960"/>
          </a:xfrm>
          <a:prstGeom prst="rect">
            <a:avLst/>
          </a:prstGeom>
        </p:spPr>
      </p:pic>
      <p:sp>
        <p:nvSpPr>
          <p:cNvPr id="11" name="TextBox 10"/>
          <p:cNvSpPr txBox="1"/>
          <p:nvPr/>
        </p:nvSpPr>
        <p:spPr>
          <a:xfrm>
            <a:off x="6217920" y="4041648"/>
            <a:ext cx="5102352" cy="182880"/>
          </a:xfrm>
          <a:prstGeom prst="rect">
            <a:avLst/>
          </a:prstGeom>
          <a:noFill/>
        </p:spPr>
        <p:txBody>
          <a:bodyPr wrap="none" lIns="0" tIns="0" rIns="0" bIns="0">
            <a:spAutoFit/>
          </a:bodyPr>
          <a:lstStyle/>
          <a:p>
            <a:pPr>
              <a:defRPr sz="850">
                <a:solidFill>
                  <a:srgbClr val="8A7C74"/>
                </a:solidFill>
                <a:latin typeface="Calibri"/>
              </a:defRPr>
            </a:pPr>
            <a:r>
              <a:t>Current UI: Shift waste intensity heatmap by day-of-week.</a:t>
            </a:r>
          </a:p>
        </p:txBody>
      </p:sp>
      <p:sp>
        <p:nvSpPr>
          <p:cNvPr id="12" name="Rounded Rectangle 11"/>
          <p:cNvSpPr/>
          <p:nvPr/>
        </p:nvSpPr>
        <p:spPr>
          <a:xfrm>
            <a:off x="777240" y="4370832"/>
            <a:ext cx="5166360" cy="1719072"/>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4526280"/>
            <a:ext cx="164592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PARETO DISTRIBUTION</a:t>
            </a:r>
          </a:p>
        </p:txBody>
      </p:sp>
      <p:sp>
        <p:nvSpPr>
          <p:cNvPr id="14" name="TextBox 13"/>
          <p:cNvSpPr txBox="1"/>
          <p:nvPr/>
        </p:nvSpPr>
        <p:spPr>
          <a:xfrm>
            <a:off x="960120" y="4800600"/>
            <a:ext cx="4800600" cy="320040"/>
          </a:xfrm>
          <a:prstGeom prst="rect">
            <a:avLst/>
          </a:prstGeom>
          <a:noFill/>
        </p:spPr>
        <p:txBody>
          <a:bodyPr wrap="none" lIns="0" tIns="0" rIns="0" bIns="0">
            <a:spAutoFit/>
          </a:bodyPr>
          <a:lstStyle/>
          <a:p>
            <a:pPr>
              <a:defRPr sz="1400" b="1">
                <a:solidFill>
                  <a:srgbClr val="2B161F"/>
                </a:solidFill>
                <a:latin typeface="Georgia"/>
              </a:defRPr>
            </a:pPr>
            <a:r>
              <a:t>Top-Waste Dish Concentration</a:t>
            </a:r>
          </a:p>
        </p:txBody>
      </p:sp>
      <p:sp>
        <p:nvSpPr>
          <p:cNvPr id="15" name="TextBox 14"/>
          <p:cNvSpPr txBox="1"/>
          <p:nvPr/>
        </p:nvSpPr>
        <p:spPr>
          <a:xfrm>
            <a:off x="960120" y="5102352"/>
            <a:ext cx="4800600" cy="914400"/>
          </a:xfrm>
          <a:prstGeom prst="rect">
            <a:avLst/>
          </a:prstGeom>
          <a:noFill/>
        </p:spPr>
        <p:txBody>
          <a:bodyPr wrap="square" lIns="0" tIns="0" rIns="0" bIns="0">
            <a:spAutoFit/>
          </a:bodyPr>
          <a:lstStyle/>
          <a:p>
            <a:pPr>
              <a:defRPr sz="950">
                <a:solidFill>
                  <a:srgbClr val="5E5550"/>
                </a:solidFill>
                <a:latin typeface="Calibri"/>
              </a:defRPr>
            </a:pPr>
            <a:r>
              <a:t>• The 80/20 Rule: In Indian hotel banquets, 4–5 core staple recipes consistently generate over 70% of total discarded weight (Plain Rice, Sambar, Rasam, Dal, Biryani).</a:t>
            </a:r>
          </a:p>
          <a:p>
            <a:pPr>
              <a:spcBef>
                <a:spcPts val="300"/>
              </a:spcBef>
              <a:defRPr sz="950">
                <a:solidFill>
                  <a:srgbClr val="5E5550"/>
                </a:solidFill>
                <a:latin typeface="Calibri"/>
              </a:defRPr>
            </a:pPr>
            <a:r>
              <a:t>• Actionable Priority: Eliminating overproduction on just these 4 items solves the vast majority of volume and disposal expense.</a:t>
            </a:r>
          </a:p>
        </p:txBody>
      </p:sp>
      <p:sp>
        <p:nvSpPr>
          <p:cNvPr id="16" name="Rounded Rectangle 15"/>
          <p:cNvSpPr/>
          <p:nvPr/>
        </p:nvSpPr>
        <p:spPr>
          <a:xfrm>
            <a:off x="6126480" y="4370832"/>
            <a:ext cx="5285232" cy="1719072"/>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4526280"/>
            <a:ext cx="164592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TEMPORAL CLUSTERING</a:t>
            </a:r>
          </a:p>
        </p:txBody>
      </p:sp>
      <p:sp>
        <p:nvSpPr>
          <p:cNvPr id="18" name="TextBox 17"/>
          <p:cNvSpPr txBox="1"/>
          <p:nvPr/>
        </p:nvSpPr>
        <p:spPr>
          <a:xfrm>
            <a:off x="6309360" y="4800600"/>
            <a:ext cx="4919472" cy="320040"/>
          </a:xfrm>
          <a:prstGeom prst="rect">
            <a:avLst/>
          </a:prstGeom>
          <a:noFill/>
        </p:spPr>
        <p:txBody>
          <a:bodyPr wrap="none" lIns="0" tIns="0" rIns="0" bIns="0">
            <a:spAutoFit/>
          </a:bodyPr>
          <a:lstStyle/>
          <a:p>
            <a:pPr>
              <a:defRPr sz="1400" b="1">
                <a:solidFill>
                  <a:srgbClr val="2B161F"/>
                </a:solidFill>
                <a:latin typeface="Georgia"/>
              </a:defRPr>
            </a:pPr>
            <a:r>
              <a:t>Heatmap Shift Intensity</a:t>
            </a:r>
          </a:p>
        </p:txBody>
      </p:sp>
      <p:sp>
        <p:nvSpPr>
          <p:cNvPr id="19" name="TextBox 18"/>
          <p:cNvSpPr txBox="1"/>
          <p:nvPr/>
        </p:nvSpPr>
        <p:spPr>
          <a:xfrm>
            <a:off x="6309360" y="5102352"/>
            <a:ext cx="4919472" cy="914400"/>
          </a:xfrm>
          <a:prstGeom prst="rect">
            <a:avLst/>
          </a:prstGeom>
          <a:noFill/>
        </p:spPr>
        <p:txBody>
          <a:bodyPr wrap="square" lIns="0" tIns="0" rIns="0" bIns="0">
            <a:spAutoFit/>
          </a:bodyPr>
          <a:lstStyle/>
          <a:p>
            <a:pPr>
              <a:defRPr sz="950">
                <a:solidFill>
                  <a:srgbClr val="5E5550"/>
                </a:solidFill>
                <a:latin typeface="Calibri"/>
              </a:defRPr>
            </a:pPr>
            <a:r>
              <a:t>• Visual Shift Intensity: Color gradient maps high-loss hotspots across Date × Meal Session (Waste kg, %, Cost ₹).</a:t>
            </a:r>
          </a:p>
          <a:p>
            <a:pPr>
              <a:spcBef>
                <a:spcPts val="300"/>
              </a:spcBef>
              <a:defRPr sz="950">
                <a:solidFill>
                  <a:srgbClr val="5E5550"/>
                </a:solidFill>
                <a:latin typeface="Calibri"/>
              </a:defRPr>
            </a:pPr>
            <a:r>
              <a:t>• Day-of-Week Recurring Patterns: Immediately highlights structural variances—such as heavy Sunday night banquet spikes versus compliant Tuesday lunch services.</a:t>
            </a:r>
          </a:p>
        </p:txBody>
      </p:sp>
      <p:sp>
        <p:nvSpPr>
          <p:cNvPr id="20" name="Rectangle 19"/>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2" name="TextBox 21"/>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3" name="TextBox 22"/>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10 / FINANCIAL IMPACT</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Turn a Recorded Quantity Into a Transparent Financial Scenario</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Distinguishing verified ingredient cost records from hypothetical reduction scenarios provides finance with a disciplined business case.</a:t>
            </a:r>
          </a:p>
        </p:txBody>
      </p:sp>
      <p:sp>
        <p:nvSpPr>
          <p:cNvPr id="6" name="Rounded Rectangle 5"/>
          <p:cNvSpPr/>
          <p:nvPr/>
        </p:nvSpPr>
        <p:spPr>
          <a:xfrm>
            <a:off x="777240" y="1965960"/>
            <a:ext cx="502920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savings_simulator.png"/>
          <p:cNvPicPr>
            <a:picLocks noChangeAspect="1"/>
          </p:cNvPicPr>
          <p:nvPr/>
        </p:nvPicPr>
        <p:blipFill>
          <a:blip r:embed="rId2"/>
          <a:stretch>
            <a:fillRect/>
          </a:stretch>
        </p:blipFill>
        <p:spPr>
          <a:xfrm>
            <a:off x="868680" y="2084831"/>
            <a:ext cx="4846320" cy="1984248"/>
          </a:xfrm>
          <a:prstGeom prst="rect">
            <a:avLst/>
          </a:prstGeom>
        </p:spPr>
      </p:pic>
      <p:sp>
        <p:nvSpPr>
          <p:cNvPr id="8" name="TextBox 7"/>
          <p:cNvSpPr txBox="1"/>
          <p:nvPr/>
        </p:nvSpPr>
        <p:spPr>
          <a:xfrm>
            <a:off x="868680" y="4105656"/>
            <a:ext cx="4846320" cy="182880"/>
          </a:xfrm>
          <a:prstGeom prst="rect">
            <a:avLst/>
          </a:prstGeom>
          <a:noFill/>
        </p:spPr>
        <p:txBody>
          <a:bodyPr wrap="none" lIns="0" tIns="0" rIns="0" bIns="0">
            <a:spAutoFit/>
          </a:bodyPr>
          <a:lstStyle/>
          <a:p>
            <a:pPr>
              <a:defRPr sz="850">
                <a:solidFill>
                  <a:srgbClr val="8A7C74"/>
                </a:solidFill>
                <a:latin typeface="Calibri"/>
              </a:defRPr>
            </a:pPr>
            <a:r>
              <a:t>Current interface snapshot: Savings Simulator &amp; Financial Impact Engine.</a:t>
            </a:r>
          </a:p>
        </p:txBody>
      </p:sp>
      <p:sp>
        <p:nvSpPr>
          <p:cNvPr id="9" name="Rounded Rectangle 8"/>
          <p:cNvSpPr/>
          <p:nvPr/>
        </p:nvSpPr>
        <p:spPr>
          <a:xfrm>
            <a:off x="868680" y="4352544"/>
            <a:ext cx="4846320" cy="1591056"/>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4462272"/>
            <a:ext cx="2103120"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SIMULATOR METHODOLOGY</a:t>
            </a:r>
          </a:p>
        </p:txBody>
      </p:sp>
      <p:sp>
        <p:nvSpPr>
          <p:cNvPr id="11" name="TextBox 10"/>
          <p:cNvSpPr txBox="1"/>
          <p:nvPr/>
        </p:nvSpPr>
        <p:spPr>
          <a:xfrm>
            <a:off x="1005840" y="4718304"/>
            <a:ext cx="4572000" cy="256032"/>
          </a:xfrm>
          <a:prstGeom prst="rect">
            <a:avLst/>
          </a:prstGeom>
          <a:noFill/>
        </p:spPr>
        <p:txBody>
          <a:bodyPr wrap="none" lIns="0" tIns="0" rIns="0" bIns="0">
            <a:spAutoFit/>
          </a:bodyPr>
          <a:lstStyle/>
          <a:p>
            <a:pPr>
              <a:defRPr sz="1200" b="1">
                <a:solidFill>
                  <a:srgbClr val="2B161F"/>
                </a:solidFill>
                <a:latin typeface="Georgia"/>
              </a:defRPr>
            </a:pPr>
            <a:r>
              <a:t>Scenario Modeling Principles</a:t>
            </a:r>
          </a:p>
        </p:txBody>
      </p:sp>
      <p:sp>
        <p:nvSpPr>
          <p:cNvPr id="12" name="TextBox 11"/>
          <p:cNvSpPr txBox="1"/>
          <p:nvPr/>
        </p:nvSpPr>
        <p:spPr>
          <a:xfrm>
            <a:off x="1005840" y="4974336"/>
            <a:ext cx="4572000" cy="896112"/>
          </a:xfrm>
          <a:prstGeom prst="rect">
            <a:avLst/>
          </a:prstGeom>
          <a:noFill/>
        </p:spPr>
        <p:txBody>
          <a:bodyPr wrap="square" lIns="0" tIns="0" rIns="0" bIns="0">
            <a:spAutoFit/>
          </a:bodyPr>
          <a:lstStyle/>
          <a:p>
            <a:pPr>
              <a:defRPr sz="950">
                <a:solidFill>
                  <a:srgbClr val="5E5550"/>
                </a:solidFill>
                <a:latin typeface="Calibri"/>
              </a:defRPr>
            </a:pPr>
            <a:r>
              <a:t>• Dynamic Target Sensitivity: Interactive slider tests 5% to 50% waste curtailment scenarios in real time.</a:t>
            </a:r>
          </a:p>
          <a:p>
            <a:pPr>
              <a:spcBef>
                <a:spcPts val="200"/>
              </a:spcBef>
              <a:defRPr sz="950">
                <a:solidFill>
                  <a:srgbClr val="5E5550"/>
                </a:solidFill>
                <a:latin typeface="Calibri"/>
              </a:defRPr>
            </a:pPr>
            <a:r>
              <a:t>• ERP Cost Integration: Cost per kg automatically derives from master storeroom ingredient rate contracts.</a:t>
            </a:r>
          </a:p>
          <a:p>
            <a:pPr>
              <a:spcBef>
                <a:spcPts val="200"/>
              </a:spcBef>
              <a:defRPr sz="950">
                <a:solidFill>
                  <a:srgbClr val="5E5550"/>
                </a:solidFill>
                <a:latin typeface="Calibri"/>
              </a:defRPr>
            </a:pPr>
            <a:r>
              <a:t>• Direct EBITDA Impact: 100% of avoided food waste expense flows directly to hotel net margin.</a:t>
            </a:r>
          </a:p>
        </p:txBody>
      </p:sp>
      <p:sp>
        <p:nvSpPr>
          <p:cNvPr id="13" name="Rounded Rectangle 12"/>
          <p:cNvSpPr/>
          <p:nvPr/>
        </p:nvSpPr>
        <p:spPr>
          <a:xfrm>
            <a:off x="5943600" y="1965960"/>
            <a:ext cx="5468112" cy="246888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72200" y="2148840"/>
            <a:ext cx="2651760" cy="256032"/>
          </a:xfrm>
          <a:prstGeom prst="roundRect">
            <a:avLst/>
          </a:prstGeom>
          <a:solidFill>
            <a:srgbClr val="C34F2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Calibri"/>
              </a:defRPr>
            </a:pPr>
            <a:r>
              <a:t>VERIFIED SAHARA BASELINE (24 AUG 2026)</a:t>
            </a:r>
          </a:p>
        </p:txBody>
      </p:sp>
      <p:sp>
        <p:nvSpPr>
          <p:cNvPr id="15" name="TextBox 14"/>
          <p:cNvSpPr txBox="1"/>
          <p:nvPr/>
        </p:nvSpPr>
        <p:spPr>
          <a:xfrm>
            <a:off x="6172200" y="2468880"/>
            <a:ext cx="5029200" cy="320040"/>
          </a:xfrm>
          <a:prstGeom prst="rect">
            <a:avLst/>
          </a:prstGeom>
          <a:noFill/>
        </p:spPr>
        <p:txBody>
          <a:bodyPr wrap="none" lIns="0" tIns="0" rIns="0" bIns="0">
            <a:spAutoFit/>
          </a:bodyPr>
          <a:lstStyle/>
          <a:p>
            <a:pPr>
              <a:defRPr sz="1600" b="1">
                <a:solidFill>
                  <a:srgbClr val="2B161F"/>
                </a:solidFill>
                <a:latin typeface="Georgia"/>
              </a:defRPr>
            </a:pPr>
            <a:r>
              <a:t>Single-Dish Case Study: Plain Rice</a:t>
            </a:r>
          </a:p>
        </p:txBody>
      </p:sp>
      <p:sp>
        <p:nvSpPr>
          <p:cNvPr id="16" name="TextBox 15"/>
          <p:cNvSpPr txBox="1"/>
          <p:nvPr/>
        </p:nvSpPr>
        <p:spPr>
          <a:xfrm>
            <a:off x="6172200" y="2834640"/>
            <a:ext cx="2423160" cy="1508760"/>
          </a:xfrm>
          <a:prstGeom prst="rect">
            <a:avLst/>
          </a:prstGeom>
          <a:noFill/>
        </p:spPr>
        <p:txBody>
          <a:bodyPr wrap="square" lIns="0" tIns="0" rIns="0" bIns="0">
            <a:spAutoFit/>
          </a:bodyPr>
          <a:lstStyle/>
          <a:p>
            <a:pPr>
              <a:defRPr sz="1000" b="1">
                <a:solidFill>
                  <a:srgbClr val="C34F2A"/>
                </a:solidFill>
                <a:latin typeface="Calibri"/>
              </a:defRPr>
            </a:pPr>
            <a:r>
              <a:t>Recorded Source Log (24.08.26):</a:t>
            </a:r>
          </a:p>
          <a:p>
            <a:pPr>
              <a:spcBef>
                <a:spcPts val="200"/>
              </a:spcBef>
              <a:defRPr sz="950">
                <a:solidFill>
                  <a:srgbClr val="5E5550"/>
                </a:solidFill>
                <a:latin typeface="Calibri"/>
              </a:defRPr>
            </a:pPr>
            <a:r>
              <a:t>• Lunch Discarded: 26.2 kg (1,722 PAX)</a:t>
            </a:r>
          </a:p>
          <a:p>
            <a:pPr>
              <a:spcBef>
                <a:spcPts val="200"/>
              </a:spcBef>
              <a:defRPr sz="950">
                <a:solidFill>
                  <a:srgbClr val="5E5550"/>
                </a:solidFill>
                <a:latin typeface="Calibri"/>
              </a:defRPr>
            </a:pPr>
            <a:r>
              <a:t>• Dinner Discarded: 29.2 kg (752 PAX)</a:t>
            </a:r>
          </a:p>
          <a:p>
            <a:pPr>
              <a:spcBef>
                <a:spcPts val="200"/>
              </a:spcBef>
              <a:defRPr sz="950">
                <a:solidFill>
                  <a:srgbClr val="5E5550"/>
                </a:solidFill>
                <a:latin typeface="Calibri"/>
              </a:defRPr>
            </a:pPr>
            <a:r>
              <a:t>• Combined Daily Waste: 55.4 kg</a:t>
            </a:r>
          </a:p>
          <a:p>
            <a:pPr>
              <a:spcBef>
                <a:spcPts val="200"/>
              </a:spcBef>
              <a:defRPr sz="950">
                <a:solidFill>
                  <a:srgbClr val="5E5550"/>
                </a:solidFill>
                <a:latin typeface="Calibri"/>
              </a:defRPr>
            </a:pPr>
            <a:r>
              <a:t>• Source Sheet Rate: ~₹20/kg (raw base)</a:t>
            </a:r>
          </a:p>
          <a:p>
            <a:pPr>
              <a:spcBef>
                <a:spcPts val="200"/>
              </a:spcBef>
              <a:defRPr sz="950">
                <a:solidFill>
                  <a:srgbClr val="5E5550"/>
                </a:solidFill>
                <a:latin typeface="Calibri"/>
              </a:defRPr>
            </a:pPr>
            <a:r>
              <a:t>• Recorded Daily Cost: ₹1,108 / day</a:t>
            </a:r>
          </a:p>
        </p:txBody>
      </p:sp>
      <p:sp>
        <p:nvSpPr>
          <p:cNvPr id="17" name="TextBox 16"/>
          <p:cNvSpPr txBox="1"/>
          <p:nvPr/>
        </p:nvSpPr>
        <p:spPr>
          <a:xfrm>
            <a:off x="8686800" y="2834640"/>
            <a:ext cx="2560320" cy="1508760"/>
          </a:xfrm>
          <a:prstGeom prst="rect">
            <a:avLst/>
          </a:prstGeom>
          <a:noFill/>
        </p:spPr>
        <p:txBody>
          <a:bodyPr wrap="square" lIns="0" tIns="0" rIns="0" bIns="0">
            <a:spAutoFit/>
          </a:bodyPr>
          <a:lstStyle/>
          <a:p>
            <a:pPr>
              <a:defRPr sz="1000" b="1">
                <a:solidFill>
                  <a:srgbClr val="2B161F"/>
                </a:solidFill>
                <a:latin typeface="Calibri"/>
              </a:defRPr>
            </a:pPr>
            <a:r>
              <a:t>Illustrative Fully Loaded Cost (₹40/kg):</a:t>
            </a:r>
          </a:p>
          <a:p>
            <a:pPr>
              <a:spcBef>
                <a:spcPts val="200"/>
              </a:spcBef>
              <a:defRPr sz="950" b="0">
                <a:solidFill>
                  <a:srgbClr val="5E5550"/>
                </a:solidFill>
                <a:latin typeface="Calibri"/>
              </a:defRPr>
            </a:pPr>
            <a:r>
              <a:t>• Full Cooked Cost: ₹40/kg (ingredients + labor + gas)</a:t>
            </a:r>
          </a:p>
          <a:p>
            <a:pPr>
              <a:spcBef>
                <a:spcPts val="200"/>
              </a:spcBef>
              <a:defRPr sz="950" b="0">
                <a:solidFill>
                  <a:srgbClr val="5E5550"/>
                </a:solidFill>
                <a:latin typeface="Calibri"/>
              </a:defRPr>
            </a:pPr>
            <a:r>
              <a:t>• Daily Baseline Cost: 55.4kg × ₹40 = ₹2,216 / day</a:t>
            </a:r>
          </a:p>
          <a:p>
            <a:pPr>
              <a:spcBef>
                <a:spcPts val="200"/>
              </a:spcBef>
              <a:defRPr sz="950" b="0">
                <a:solidFill>
                  <a:srgbClr val="5E5550"/>
                </a:solidFill>
                <a:latin typeface="Calibri"/>
              </a:defRPr>
            </a:pPr>
            <a:r>
              <a:t>• 50% Reduction Target: 27.7kg = ₹1,108 / day saved</a:t>
            </a:r>
          </a:p>
          <a:p>
            <a:pPr>
              <a:spcBef>
                <a:spcPts val="200"/>
              </a:spcBef>
              <a:defRPr sz="950" b="1">
                <a:solidFill>
                  <a:srgbClr val="C34F2A"/>
                </a:solidFill>
                <a:latin typeface="Calibri"/>
              </a:defRPr>
            </a:pPr>
            <a:r>
              <a:t>• 30-Day Potential Savings: ₹33,240 / month</a:t>
            </a:r>
          </a:p>
          <a:p>
            <a:pPr>
              <a:spcBef>
                <a:spcPts val="200"/>
              </a:spcBef>
              <a:defRPr sz="950" b="0">
                <a:solidFill>
                  <a:srgbClr val="5E5550"/>
                </a:solidFill>
                <a:latin typeface="Calibri"/>
              </a:defRPr>
            </a:pPr>
            <a:r>
              <a:t>  (On Plain Rice alone at a single property!)</a:t>
            </a:r>
          </a:p>
        </p:txBody>
      </p:sp>
      <p:sp>
        <p:nvSpPr>
          <p:cNvPr id="18" name="Rounded Rectangle 17"/>
          <p:cNvSpPr/>
          <p:nvPr/>
        </p:nvSpPr>
        <p:spPr>
          <a:xfrm>
            <a:off x="5943600" y="4526280"/>
            <a:ext cx="5468112" cy="155448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2200" y="4709160"/>
            <a:ext cx="2011680" cy="237744"/>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WHAT-IF REDUCTION SIMULATOR</a:t>
            </a:r>
          </a:p>
        </p:txBody>
      </p:sp>
      <p:sp>
        <p:nvSpPr>
          <p:cNvPr id="20" name="TextBox 19"/>
          <p:cNvSpPr txBox="1"/>
          <p:nvPr/>
        </p:nvSpPr>
        <p:spPr>
          <a:xfrm>
            <a:off x="6172200" y="5010912"/>
            <a:ext cx="5029200" cy="320040"/>
          </a:xfrm>
          <a:prstGeom prst="rect">
            <a:avLst/>
          </a:prstGeom>
          <a:noFill/>
        </p:spPr>
        <p:txBody>
          <a:bodyPr wrap="none" lIns="0" tIns="0" rIns="0" bIns="0">
            <a:spAutoFit/>
          </a:bodyPr>
          <a:lstStyle/>
          <a:p>
            <a:pPr>
              <a:defRPr sz="1400" b="1">
                <a:solidFill>
                  <a:srgbClr val="2B161F"/>
                </a:solidFill>
                <a:latin typeface="Georgia"/>
              </a:defRPr>
            </a:pPr>
            <a:r>
              <a:t>Interactive Management Scenarios (Monthly Impact)</a:t>
            </a:r>
          </a:p>
        </p:txBody>
      </p:sp>
      <p:sp>
        <p:nvSpPr>
          <p:cNvPr id="21" name="TextBox 20"/>
          <p:cNvSpPr txBox="1"/>
          <p:nvPr/>
        </p:nvSpPr>
        <p:spPr>
          <a:xfrm>
            <a:off x="6172200" y="5321808"/>
            <a:ext cx="5029200" cy="685800"/>
          </a:xfrm>
          <a:prstGeom prst="rect">
            <a:avLst/>
          </a:prstGeom>
          <a:noFill/>
        </p:spPr>
        <p:txBody>
          <a:bodyPr wrap="square" lIns="0" tIns="0" rIns="0" bIns="0">
            <a:spAutoFit/>
          </a:bodyPr>
          <a:lstStyle/>
          <a:p>
            <a:pPr>
              <a:defRPr sz="950">
                <a:solidFill>
                  <a:srgbClr val="5E5550"/>
                </a:solidFill>
                <a:latin typeface="Calibri"/>
              </a:defRPr>
            </a:pPr>
            <a:r>
              <a:t>• -10% Reduction: ₹6,648 / mo potential savings (Conservative batch re-timing).</a:t>
            </a:r>
          </a:p>
          <a:p>
            <a:pPr>
              <a:spcBef>
                <a:spcPts val="150"/>
              </a:spcBef>
              <a:defRPr sz="950">
                <a:solidFill>
                  <a:srgbClr val="5E5550"/>
                </a:solidFill>
                <a:latin typeface="Calibri"/>
              </a:defRPr>
            </a:pPr>
            <a:r>
              <a:t>• -20% Reduction: ₹13,296 / mo potential savings (Moderate, 2-stage pan replenishments).</a:t>
            </a:r>
          </a:p>
          <a:p>
            <a:pPr>
              <a:spcBef>
                <a:spcPts val="150"/>
              </a:spcBef>
              <a:defRPr sz="950">
                <a:solidFill>
                  <a:srgbClr val="5E5550"/>
                </a:solidFill>
                <a:latin typeface="Calibri"/>
              </a:defRPr>
            </a:pPr>
            <a:r>
              <a:t>• -30% Reduction: ₹19,944 / mo potential savings (Optimized, live sensor-triggered refills).</a:t>
            </a:r>
          </a:p>
          <a:p>
            <a:pPr>
              <a:spcBef>
                <a:spcPts val="150"/>
              </a:spcBef>
              <a:defRPr sz="950">
                <a:solidFill>
                  <a:srgbClr val="5E5550"/>
                </a:solidFill>
                <a:latin typeface="Calibri"/>
              </a:defRPr>
            </a:pPr>
            <a:r>
              <a:t>• Note: Illustrative potential savings based on ₹40/kg fully loaded cost model to guide executive targets.</a:t>
            </a:r>
          </a:p>
        </p:txBody>
      </p:sp>
      <p:sp>
        <p:nvSpPr>
          <p:cNvPr id="22" name="Rectangle 21"/>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4" name="TextBox 23"/>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5" name="TextBox 24"/>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4472" cy="256032"/>
          </a:xfrm>
          <a:prstGeom prst="rect">
            <a:avLst/>
          </a:prstGeom>
          <a:noFill/>
        </p:spPr>
        <p:txBody>
          <a:bodyPr wrap="square" lIns="0" tIns="0" rIns="0" bIns="0">
            <a:spAutoFit/>
          </a:bodyPr>
          <a:lstStyle/>
          <a:p>
            <a:pPr>
              <a:defRPr sz="1000" b="1">
                <a:solidFill>
                  <a:srgbClr val="C34F2A"/>
                </a:solidFill>
                <a:latin typeface="Calibri"/>
              </a:defRPr>
            </a:pPr>
            <a:r>
              <a:t>11 / GOVERNANCE &amp; INTEGRATION</a:t>
            </a:r>
          </a:p>
        </p:txBody>
      </p:sp>
      <p:sp>
        <p:nvSpPr>
          <p:cNvPr id="4" name="TextBox 3"/>
          <p:cNvSpPr txBox="1"/>
          <p:nvPr/>
        </p:nvSpPr>
        <p:spPr>
          <a:xfrm>
            <a:off x="777240" y="694944"/>
            <a:ext cx="10634472" cy="594360"/>
          </a:xfrm>
          <a:prstGeom prst="rect">
            <a:avLst/>
          </a:prstGeom>
          <a:noFill/>
        </p:spPr>
        <p:txBody>
          <a:bodyPr wrap="square" lIns="0" tIns="0" rIns="0" bIns="0">
            <a:spAutoFit/>
          </a:bodyPr>
          <a:lstStyle/>
          <a:p>
            <a:pPr>
              <a:defRPr sz="2500" b="1">
                <a:solidFill>
                  <a:srgbClr val="2B161F"/>
                </a:solidFill>
                <a:latin typeface="Georgia"/>
              </a:defRPr>
            </a:pPr>
            <a:r>
              <a:t>Reliable Decisions Depend on Consistent Records</a:t>
            </a:r>
          </a:p>
        </p:txBody>
      </p:sp>
      <p:sp>
        <p:nvSpPr>
          <p:cNvPr id="5" name="TextBox 4"/>
          <p:cNvSpPr txBox="1"/>
          <p:nvPr/>
        </p:nvSpPr>
        <p:spPr>
          <a:xfrm>
            <a:off x="777240" y="1316736"/>
            <a:ext cx="10634472" cy="411480"/>
          </a:xfrm>
          <a:prstGeom prst="rect">
            <a:avLst/>
          </a:prstGeom>
          <a:noFill/>
        </p:spPr>
        <p:txBody>
          <a:bodyPr wrap="square" lIns="0" tIns="0" rIns="0" bIns="0">
            <a:spAutoFit/>
          </a:bodyPr>
          <a:lstStyle/>
          <a:p>
            <a:pPr>
              <a:defRPr sz="1200">
                <a:solidFill>
                  <a:srgbClr val="5E5550"/>
                </a:solidFill>
                <a:latin typeface="Calibri"/>
              </a:defRPr>
            </a:pPr>
            <a:r>
              <a:t>Centralized analytics require strict data hygiene, transparent calculation definitions, and unified multi-property controls.</a:t>
            </a:r>
          </a:p>
        </p:txBody>
      </p:sp>
      <p:sp>
        <p:nvSpPr>
          <p:cNvPr id="6" name="Rounded Rectangle 5"/>
          <p:cNvSpPr/>
          <p:nvPr/>
        </p:nvSpPr>
        <p:spPr>
          <a:xfrm>
            <a:off x="777240" y="1965960"/>
            <a:ext cx="33375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2194560"/>
            <a:ext cx="1645920" cy="256032"/>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AUDIT INTEGRITY</a:t>
            </a:r>
          </a:p>
        </p:txBody>
      </p:sp>
      <p:sp>
        <p:nvSpPr>
          <p:cNvPr id="8" name="TextBox 7"/>
          <p:cNvSpPr txBox="1"/>
          <p:nvPr/>
        </p:nvSpPr>
        <p:spPr>
          <a:xfrm>
            <a:off x="960120" y="2542032"/>
            <a:ext cx="2971800" cy="365760"/>
          </a:xfrm>
          <a:prstGeom prst="rect">
            <a:avLst/>
          </a:prstGeom>
          <a:noFill/>
        </p:spPr>
        <p:txBody>
          <a:bodyPr wrap="none" lIns="0" tIns="0" rIns="0" bIns="0">
            <a:spAutoFit/>
          </a:bodyPr>
          <a:lstStyle/>
          <a:p>
            <a:pPr>
              <a:defRPr sz="1600" b="1">
                <a:solidFill>
                  <a:srgbClr val="2B161F"/>
                </a:solidFill>
                <a:latin typeface="Georgia"/>
              </a:defRPr>
            </a:pPr>
            <a:r>
              <a:t>Human-in-the-Loop Controls</a:t>
            </a:r>
          </a:p>
        </p:txBody>
      </p:sp>
      <p:sp>
        <p:nvSpPr>
          <p:cNvPr id="9" name="TextBox 8"/>
          <p:cNvSpPr txBox="1"/>
          <p:nvPr/>
        </p:nvSpPr>
        <p:spPr>
          <a:xfrm>
            <a:off x="960120" y="2971800"/>
            <a:ext cx="2971800" cy="2926080"/>
          </a:xfrm>
          <a:prstGeom prst="rect">
            <a:avLst/>
          </a:prstGeom>
          <a:noFill/>
        </p:spPr>
        <p:txBody>
          <a:bodyPr wrap="square" lIns="0" tIns="0" rIns="0" bIns="0">
            <a:spAutoFit/>
          </a:bodyPr>
          <a:lstStyle/>
          <a:p>
            <a:pPr>
              <a:defRPr sz="1000">
                <a:solidFill>
                  <a:srgbClr val="5E5550"/>
                </a:solidFill>
                <a:latin typeface="Calibri"/>
              </a:defRPr>
            </a:pPr>
            <a:r>
              <a:t>• Photo Evidence: Every hardware scan captures a high-resolution image record for verification and chef dispute resolution.</a:t>
            </a:r>
          </a:p>
          <a:p>
            <a:pPr>
              <a:spcBef>
                <a:spcPts val="800"/>
              </a:spcBef>
              <a:defRPr sz="1000">
                <a:solidFill>
                  <a:srgbClr val="5E5550"/>
                </a:solidFill>
                <a:latin typeface="Calibri"/>
              </a:defRPr>
            </a:pPr>
            <a:r>
              <a:t>• Manager Override: Authorized supervisors can review and adjust dish classifications, PAX counts, or waste reasons via secure modal.</a:t>
            </a:r>
          </a:p>
          <a:p>
            <a:pPr>
              <a:spcBef>
                <a:spcPts val="800"/>
              </a:spcBef>
              <a:defRPr sz="1000">
                <a:solidFill>
                  <a:srgbClr val="5E5550"/>
                </a:solidFill>
                <a:latin typeface="Calibri"/>
              </a:defRPr>
            </a:pPr>
            <a:r>
              <a:t>• Immutable Log: Every weight transaction is timestamped and secured against unauthorized alteration or retroactive editing.</a:t>
            </a:r>
          </a:p>
          <a:p>
            <a:pPr>
              <a:spcBef>
                <a:spcPts val="800"/>
              </a:spcBef>
              <a:defRPr sz="1000">
                <a:solidFill>
                  <a:srgbClr val="5E5550"/>
                </a:solidFill>
                <a:latin typeface="Calibri"/>
              </a:defRPr>
            </a:pPr>
            <a:r>
              <a:t>• Tamper Resistance: Eliminates adversarial gaming and ensures finance can rely on data integrity.</a:t>
            </a:r>
          </a:p>
        </p:txBody>
      </p:sp>
      <p:sp>
        <p:nvSpPr>
          <p:cNvPr id="10" name="Rounded Rectangle 9"/>
          <p:cNvSpPr/>
          <p:nvPr/>
        </p:nvSpPr>
        <p:spPr>
          <a:xfrm>
            <a:off x="4425696" y="1965960"/>
            <a:ext cx="3337560" cy="4114800"/>
          </a:xfrm>
          <a:prstGeom prst="roundRect">
            <a:avLst/>
          </a:prstGeom>
          <a:solidFill>
            <a:srgbClr val="FFFFFF"/>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08576" y="2194560"/>
            <a:ext cx="1645920" cy="256032"/>
          </a:xfrm>
          <a:prstGeom prst="roundRect">
            <a:avLst/>
          </a:prstGeom>
          <a:solidFill>
            <a:srgbClr val="F2EBDD"/>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MULTI-PROPERTY ROLLOUT</a:t>
            </a:r>
          </a:p>
        </p:txBody>
      </p:sp>
      <p:sp>
        <p:nvSpPr>
          <p:cNvPr id="12" name="TextBox 11"/>
          <p:cNvSpPr txBox="1"/>
          <p:nvPr/>
        </p:nvSpPr>
        <p:spPr>
          <a:xfrm>
            <a:off x="4608576" y="2542032"/>
            <a:ext cx="2971800" cy="365760"/>
          </a:xfrm>
          <a:prstGeom prst="rect">
            <a:avLst/>
          </a:prstGeom>
          <a:noFill/>
        </p:spPr>
        <p:txBody>
          <a:bodyPr wrap="none" lIns="0" tIns="0" rIns="0" bIns="0">
            <a:spAutoFit/>
          </a:bodyPr>
          <a:lstStyle/>
          <a:p>
            <a:pPr>
              <a:defRPr sz="1600" b="1">
                <a:solidFill>
                  <a:srgbClr val="2B161F"/>
                </a:solidFill>
                <a:latin typeface="Georgia"/>
              </a:defRPr>
            </a:pPr>
            <a:r>
              <a:t>Dolphin Property Portfolio</a:t>
            </a:r>
          </a:p>
        </p:txBody>
      </p:sp>
      <p:sp>
        <p:nvSpPr>
          <p:cNvPr id="13" name="TextBox 12"/>
          <p:cNvSpPr txBox="1"/>
          <p:nvPr/>
        </p:nvSpPr>
        <p:spPr>
          <a:xfrm>
            <a:off x="4608576" y="2971800"/>
            <a:ext cx="2971800" cy="2926080"/>
          </a:xfrm>
          <a:prstGeom prst="rect">
            <a:avLst/>
          </a:prstGeom>
          <a:noFill/>
        </p:spPr>
        <p:txBody>
          <a:bodyPr wrap="square" lIns="0" tIns="0" rIns="0" bIns="0">
            <a:spAutoFit/>
          </a:bodyPr>
          <a:lstStyle/>
          <a:p>
            <a:pPr>
              <a:defRPr sz="1000">
                <a:solidFill>
                  <a:srgbClr val="5E5550"/>
                </a:solidFill>
                <a:latin typeface="Calibri"/>
              </a:defRPr>
            </a:pPr>
            <a:r>
              <a:t>• Unified Data Schema: Single dashboard filters effortlessly across Sitara Luxury, Sahara Banquets, Tara, and Eureka.</a:t>
            </a:r>
          </a:p>
          <a:p>
            <a:pPr>
              <a:spcBef>
                <a:spcPts val="800"/>
              </a:spcBef>
              <a:defRPr sz="1000">
                <a:solidFill>
                  <a:srgbClr val="5E5550"/>
                </a:solidFill>
                <a:latin typeface="Calibri"/>
              </a:defRPr>
            </a:pPr>
            <a:r>
              <a:t>• Cross-Kitchen Benchmarking: Compares grams-per-guest efficiency across kitchen brigades cooking identical menu specifications.</a:t>
            </a:r>
          </a:p>
          <a:p>
            <a:pPr>
              <a:spcBef>
                <a:spcPts val="800"/>
              </a:spcBef>
              <a:defRPr sz="1000">
                <a:solidFill>
                  <a:srgbClr val="5E5550"/>
                </a:solidFill>
                <a:latin typeface="Calibri"/>
              </a:defRPr>
            </a:pPr>
            <a:r>
              <a:t>• Centralized Oversight: Headquarters view for Ramoji Film City executive leadership to monitor portfolio-wide trends.</a:t>
            </a:r>
          </a:p>
          <a:p>
            <a:pPr>
              <a:spcBef>
                <a:spcPts val="800"/>
              </a:spcBef>
              <a:defRPr sz="1000">
                <a:solidFill>
                  <a:srgbClr val="5E5550"/>
                </a:solidFill>
                <a:latin typeface="Calibri"/>
              </a:defRPr>
            </a:pPr>
            <a:r>
              <a:t>• Scalable Architecture: Start with a pilot station at Sahara and scale seamlessly to Sitara and Tara.</a:t>
            </a:r>
          </a:p>
        </p:txBody>
      </p:sp>
      <p:sp>
        <p:nvSpPr>
          <p:cNvPr id="14" name="Rounded Rectangle 13"/>
          <p:cNvSpPr/>
          <p:nvPr/>
        </p:nvSpPr>
        <p:spPr>
          <a:xfrm>
            <a:off x="8074152" y="1965960"/>
            <a:ext cx="3337560" cy="4114800"/>
          </a:xfrm>
          <a:prstGeom prst="roundRect">
            <a:avLst/>
          </a:prstGeom>
          <a:solidFill>
            <a:srgbClr val="F2EBDD"/>
          </a:solid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57032" y="2194560"/>
            <a:ext cx="1645920" cy="256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34F2A"/>
                </a:solidFill>
                <a:latin typeface="Calibri"/>
              </a:defRPr>
            </a:pPr>
            <a:r>
              <a:t>ROLE-BASED GOVERNANCE</a:t>
            </a:r>
          </a:p>
        </p:txBody>
      </p:sp>
      <p:sp>
        <p:nvSpPr>
          <p:cNvPr id="16" name="TextBox 15"/>
          <p:cNvSpPr txBox="1"/>
          <p:nvPr/>
        </p:nvSpPr>
        <p:spPr>
          <a:xfrm>
            <a:off x="8257032" y="2542032"/>
            <a:ext cx="2971800" cy="365760"/>
          </a:xfrm>
          <a:prstGeom prst="rect">
            <a:avLst/>
          </a:prstGeom>
          <a:noFill/>
        </p:spPr>
        <p:txBody>
          <a:bodyPr wrap="none" lIns="0" tIns="0" rIns="0" bIns="0">
            <a:spAutoFit/>
          </a:bodyPr>
          <a:lstStyle/>
          <a:p>
            <a:pPr>
              <a:defRPr sz="1600" b="1">
                <a:solidFill>
                  <a:srgbClr val="2B161F"/>
                </a:solidFill>
                <a:latin typeface="Georgia"/>
              </a:defRPr>
            </a:pPr>
            <a:r>
              <a:t>Tailored Stakeholder Views</a:t>
            </a:r>
          </a:p>
        </p:txBody>
      </p:sp>
      <p:sp>
        <p:nvSpPr>
          <p:cNvPr id="17" name="TextBox 16"/>
          <p:cNvSpPr txBox="1"/>
          <p:nvPr/>
        </p:nvSpPr>
        <p:spPr>
          <a:xfrm>
            <a:off x="8257032" y="2971800"/>
            <a:ext cx="2971800" cy="2926080"/>
          </a:xfrm>
          <a:prstGeom prst="rect">
            <a:avLst/>
          </a:prstGeom>
          <a:noFill/>
        </p:spPr>
        <p:txBody>
          <a:bodyPr wrap="square" lIns="0" tIns="0" rIns="0" bIns="0">
            <a:spAutoFit/>
          </a:bodyPr>
          <a:lstStyle/>
          <a:p>
            <a:pPr>
              <a:defRPr sz="1000">
                <a:solidFill>
                  <a:srgbClr val="5E5550"/>
                </a:solidFill>
                <a:latin typeface="Calibri"/>
              </a:defRPr>
            </a:pPr>
            <a:r>
              <a:t>• Executive / GM: High-level monthly savings, sustainability metrics, and property scorecards.</a:t>
            </a:r>
          </a:p>
          <a:p>
            <a:pPr>
              <a:spcBef>
                <a:spcPts val="800"/>
              </a:spcBef>
              <a:defRPr sz="1000">
                <a:solidFill>
                  <a:srgbClr val="5E5550"/>
                </a:solidFill>
                <a:latin typeface="Calibri"/>
              </a:defRPr>
            </a:pPr>
            <a:r>
              <a:t>• F&amp;B Controller / Finance: Recipe variance, ingredient wastage costs, inventory drift, and procurement alignment.</a:t>
            </a:r>
          </a:p>
          <a:p>
            <a:pPr>
              <a:spcBef>
                <a:spcPts val="800"/>
              </a:spcBef>
              <a:defRPr sz="1000">
                <a:solidFill>
                  <a:srgbClr val="5E5550"/>
                </a:solidFill>
                <a:latin typeface="Calibri"/>
              </a:defRPr>
            </a:pPr>
            <a:r>
              <a:t>• Executive &amp; Sous Chefs: Shift action cards, batch timing recommendations, and item-level waste rankings.</a:t>
            </a:r>
          </a:p>
          <a:p>
            <a:pPr>
              <a:spcBef>
                <a:spcPts val="800"/>
              </a:spcBef>
              <a:defRPr sz="1000">
                <a:solidFill>
                  <a:srgbClr val="5E5550"/>
                </a:solidFill>
                <a:latin typeface="Calibri"/>
              </a:defRPr>
            </a:pPr>
            <a:r>
              <a:t>• Kitchen Stewards: Simple, language-agnostic color-coded station confirmations.</a:t>
            </a:r>
          </a:p>
        </p:txBody>
      </p:sp>
      <p:sp>
        <p:nvSpPr>
          <p:cNvPr id="18" name="Rectangle 17"/>
          <p:cNvSpPr/>
          <p:nvPr/>
        </p:nvSpPr>
        <p:spPr>
          <a:xfrm>
            <a:off x="777240" y="6263640"/>
            <a:ext cx="10634472" cy="9144"/>
          </a:xfrm>
          <a:prstGeom prst="rect">
            <a:avLst/>
          </a:prstGeom>
          <a:solidFill>
            <a:srgbClr val="E6E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336792"/>
            <a:ext cx="2286000" cy="274320"/>
          </a:xfrm>
          <a:prstGeom prst="rect">
            <a:avLst/>
          </a:prstGeom>
          <a:noFill/>
        </p:spPr>
        <p:txBody>
          <a:bodyPr wrap="none" lIns="0" tIns="0" rIns="0" bIns="0">
            <a:spAutoFit/>
          </a:bodyPr>
          <a:lstStyle/>
          <a:p>
            <a:pPr>
              <a:defRPr sz="1000" b="1">
                <a:solidFill>
                  <a:srgbClr val="2B161F"/>
                </a:solidFill>
                <a:latin typeface="Georgia"/>
              </a:defRPr>
            </a:pPr>
            <a:r>
              <a:t>PlateSight</a:t>
            </a:r>
          </a:p>
        </p:txBody>
      </p:sp>
      <p:sp>
        <p:nvSpPr>
          <p:cNvPr id="20" name="TextBox 19"/>
          <p:cNvSpPr txBox="1"/>
          <p:nvPr/>
        </p:nvSpPr>
        <p:spPr>
          <a:xfrm>
            <a:off x="3200400" y="6336792"/>
            <a:ext cx="5788152" cy="274320"/>
          </a:xfrm>
          <a:prstGeom prst="rect">
            <a:avLst/>
          </a:prstGeom>
          <a:noFill/>
        </p:spPr>
        <p:txBody>
          <a:bodyPr wrap="none" lIns="0" tIns="0" rIns="0" bIns="0">
            <a:spAutoFit/>
          </a:bodyPr>
          <a:lstStyle/>
          <a:p>
            <a:pPr>
              <a:defRPr sz="950">
                <a:solidFill>
                  <a:srgbClr val="8A7C74"/>
                </a:solidFill>
                <a:latin typeface="Calibri"/>
              </a:defRPr>
            </a:pPr>
            <a:r>
              <a:t>AI-Powered Food Waste Monitoring — Prepared for Dolphin Group of Hotels</a:t>
            </a:r>
          </a:p>
        </p:txBody>
      </p:sp>
      <p:sp>
        <p:nvSpPr>
          <p:cNvPr id="21" name="TextBox 20"/>
          <p:cNvSpPr txBox="1"/>
          <p:nvPr/>
        </p:nvSpPr>
        <p:spPr>
          <a:xfrm>
            <a:off x="9601200" y="6336792"/>
            <a:ext cx="1810512" cy="274320"/>
          </a:xfrm>
          <a:prstGeom prst="rect">
            <a:avLst/>
          </a:prstGeom>
          <a:noFill/>
        </p:spPr>
        <p:txBody>
          <a:bodyPr wrap="none" lIns="0" tIns="0" rIns="0" bIns="0">
            <a:spAutoFit/>
          </a:bodyPr>
          <a:lstStyle/>
          <a:p>
            <a:pPr algn="r">
              <a:defRPr sz="950">
                <a:solidFill>
                  <a:srgbClr val="8A7C74"/>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16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594360"/>
            <a:ext cx="3108960" cy="292608"/>
          </a:xfrm>
          <a:prstGeom prst="roundRect">
            <a:avLst/>
          </a:prstGeom>
          <a:solidFill>
            <a:srgbClr val="361C2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79943"/>
                </a:solidFill>
                <a:latin typeface="Calibri"/>
              </a:defRPr>
            </a:pPr>
            <a:r>
              <a:t>CONTINUOUS IMPROVEMENT • PILOT NEXT STEPS</a:t>
            </a:r>
          </a:p>
        </p:txBody>
      </p:sp>
      <p:sp>
        <p:nvSpPr>
          <p:cNvPr id="4" name="TextBox 3"/>
          <p:cNvSpPr txBox="1"/>
          <p:nvPr/>
        </p:nvSpPr>
        <p:spPr>
          <a:xfrm>
            <a:off x="777240" y="960120"/>
            <a:ext cx="10634472" cy="640080"/>
          </a:xfrm>
          <a:prstGeom prst="rect">
            <a:avLst/>
          </a:prstGeom>
          <a:noFill/>
        </p:spPr>
        <p:txBody>
          <a:bodyPr wrap="square" lIns="0" tIns="0" rIns="0" bIns="0">
            <a:spAutoFit/>
          </a:bodyPr>
          <a:lstStyle/>
          <a:p>
            <a:pPr>
              <a:defRPr sz="3200" b="1">
                <a:solidFill>
                  <a:srgbClr val="FFFFFF"/>
                </a:solidFill>
                <a:latin typeface="Georgia"/>
              </a:defRPr>
            </a:pPr>
            <a:r>
              <a:t>Measure. Investigate. Adjust. Measure Again.</a:t>
            </a:r>
          </a:p>
        </p:txBody>
      </p:sp>
      <p:sp>
        <p:nvSpPr>
          <p:cNvPr id="5" name="TextBox 4"/>
          <p:cNvSpPr txBox="1"/>
          <p:nvPr/>
        </p:nvSpPr>
        <p:spPr>
          <a:xfrm>
            <a:off x="777240" y="1600200"/>
            <a:ext cx="10634472" cy="365760"/>
          </a:xfrm>
          <a:prstGeom prst="rect">
            <a:avLst/>
          </a:prstGeom>
          <a:noFill/>
        </p:spPr>
        <p:txBody>
          <a:bodyPr wrap="square" lIns="0" tIns="0" rIns="0" bIns="0">
            <a:spAutoFit/>
          </a:bodyPr>
          <a:lstStyle/>
          <a:p>
            <a:pPr>
              <a:defRPr sz="1350">
                <a:solidFill>
                  <a:srgbClr val="D8C8CE"/>
                </a:solidFill>
                <a:latin typeface="Calibri"/>
              </a:defRPr>
            </a:pPr>
            <a:r>
              <a:t>The PlateSight analytics continuous improvement loop for Dolphin Group of Hotels.</a:t>
            </a:r>
          </a:p>
        </p:txBody>
      </p:sp>
      <p:sp>
        <p:nvSpPr>
          <p:cNvPr id="6" name="Rectangle 5"/>
          <p:cNvSpPr/>
          <p:nvPr/>
        </p:nvSpPr>
        <p:spPr>
          <a:xfrm>
            <a:off x="777240" y="2103120"/>
            <a:ext cx="10634472" cy="9144"/>
          </a:xfrm>
          <a:prstGeom prst="rect">
            <a:avLst/>
          </a:prstGeom>
          <a:solidFill>
            <a:srgbClr val="52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331720"/>
            <a:ext cx="6035040" cy="3794760"/>
          </a:xfrm>
          <a:prstGeom prst="roundRect">
            <a:avLst/>
          </a:prstGeom>
          <a:solidFill>
            <a:srgbClr val="361C27"/>
          </a:solidFill>
          <a:ln w="12700">
            <a:solidFill>
              <a:srgbClr val="522C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514600"/>
            <a:ext cx="2011680" cy="256032"/>
          </a:xfrm>
          <a:prstGeom prst="roundRect">
            <a:avLst/>
          </a:prstGeom>
          <a:solidFill>
            <a:srgbClr val="522C3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C79943"/>
                </a:solidFill>
                <a:latin typeface="Calibri"/>
              </a:defRPr>
            </a:pPr>
            <a:r>
              <a:t>THE 4-STAGE PILOT ROADMAP</a:t>
            </a:r>
          </a:p>
        </p:txBody>
      </p:sp>
      <p:sp>
        <p:nvSpPr>
          <p:cNvPr id="9" name="TextBox 8"/>
          <p:cNvSpPr txBox="1"/>
          <p:nvPr/>
        </p:nvSpPr>
        <p:spPr>
          <a:xfrm>
            <a:off x="1005840" y="2852928"/>
            <a:ext cx="5577840" cy="320040"/>
          </a:xfrm>
          <a:prstGeom prst="rect">
            <a:avLst/>
          </a:prstGeom>
          <a:noFill/>
        </p:spPr>
        <p:txBody>
          <a:bodyPr wrap="none" lIns="0" tIns="0" rIns="0" bIns="0">
            <a:spAutoFit/>
          </a:bodyPr>
          <a:lstStyle/>
          <a:p>
            <a:pPr>
              <a:defRPr sz="1700" b="1">
                <a:solidFill>
                  <a:srgbClr val="FFFFFF"/>
                </a:solidFill>
                <a:latin typeface="Georgia"/>
              </a:defRPr>
            </a:pPr>
            <a:r>
              <a:t>Structured 60-Day Pilot Milestones</a:t>
            </a:r>
          </a:p>
        </p:txBody>
      </p:sp>
      <p:sp>
        <p:nvSpPr>
          <p:cNvPr id="10" name="TextBox 9"/>
          <p:cNvSpPr txBox="1"/>
          <p:nvPr/>
        </p:nvSpPr>
        <p:spPr>
          <a:xfrm>
            <a:off x="1005840" y="3218688"/>
            <a:ext cx="5577840" cy="2743200"/>
          </a:xfrm>
          <a:prstGeom prst="rect">
            <a:avLst/>
          </a:prstGeom>
          <a:noFill/>
        </p:spPr>
        <p:txBody>
          <a:bodyPr wrap="square" lIns="0" tIns="0" rIns="0" bIns="0">
            <a:spAutoFit/>
          </a:bodyPr>
          <a:lstStyle/>
          <a:p>
            <a:pPr>
              <a:defRPr sz="1100" b="1">
                <a:solidFill>
                  <a:srgbClr val="C79943"/>
                </a:solidFill>
                <a:latin typeface="Calibri"/>
              </a:defRPr>
            </a:pPr>
            <a:r>
              <a:t>Phase 1: Baseline Recording (Weeks 1–2)</a:t>
            </a:r>
          </a:p>
          <a:p>
            <a:pPr>
              <a:spcBef>
                <a:spcPts val="150"/>
              </a:spcBef>
              <a:defRPr sz="950">
                <a:solidFill>
                  <a:srgbClr val="D8C8CE"/>
                </a:solidFill>
                <a:latin typeface="Calibri"/>
              </a:defRPr>
            </a:pPr>
            <a:r>
              <a:t>Deploy automated monitoring &amp; ingest daily Excel logs. Capture true, unadjusted operational baseline across lunch and dinner buffets.</a:t>
            </a:r>
          </a:p>
          <a:p>
            <a:pPr>
              <a:spcBef>
                <a:spcPts val="800"/>
              </a:spcBef>
              <a:defRPr sz="1100" b="1">
                <a:solidFill>
                  <a:srgbClr val="C79943"/>
                </a:solidFill>
                <a:latin typeface="Calibri"/>
              </a:defRPr>
            </a:pPr>
            <a:r>
              <a:t>Phase 2: Recipe &amp; Cost Mapping (Weeks 3–4)</a:t>
            </a:r>
          </a:p>
          <a:p>
            <a:pPr>
              <a:spcBef>
                <a:spcPts val="150"/>
              </a:spcBef>
              <a:defRPr sz="950">
                <a:solidFill>
                  <a:srgbClr val="D8C8CE"/>
                </a:solidFill>
                <a:latin typeface="Calibri"/>
              </a:defRPr>
            </a:pPr>
            <a:r>
              <a:t>Map Dolphin Group ingredient master rate sheets into the costing engine to establish authoritative rupee valuations.</a:t>
            </a:r>
          </a:p>
          <a:p>
            <a:pPr>
              <a:spcBef>
                <a:spcPts val="800"/>
              </a:spcBef>
              <a:defRPr sz="1100" b="1">
                <a:solidFill>
                  <a:srgbClr val="C79943"/>
                </a:solidFill>
                <a:latin typeface="Calibri"/>
              </a:defRPr>
            </a:pPr>
            <a:r>
              <a:t>Phase 3: Targeted Batch Interventions (Weeks 5–6)</a:t>
            </a:r>
          </a:p>
          <a:p>
            <a:pPr>
              <a:spcBef>
                <a:spcPts val="150"/>
              </a:spcBef>
              <a:defRPr sz="950">
                <a:solidFill>
                  <a:srgbClr val="D8C8CE"/>
                </a:solidFill>
                <a:latin typeface="Calibri"/>
              </a:defRPr>
            </a:pPr>
            <a:r>
              <a:t>Implement action card recommendations on top 3 high-waste items (Plain Rice, Sambar) with staged pan replenishment.</a:t>
            </a:r>
          </a:p>
          <a:p>
            <a:pPr>
              <a:spcBef>
                <a:spcPts val="800"/>
              </a:spcBef>
              <a:defRPr sz="1100" b="1">
                <a:solidFill>
                  <a:srgbClr val="C79943"/>
                </a:solidFill>
                <a:latin typeface="Calibri"/>
              </a:defRPr>
            </a:pPr>
            <a:r>
              <a:t>Phase 4: Financial Validation &amp; Review (Weeks 7–8)</a:t>
            </a:r>
          </a:p>
          <a:p>
            <a:pPr>
              <a:spcBef>
                <a:spcPts val="150"/>
              </a:spcBef>
              <a:defRPr sz="950">
                <a:solidFill>
                  <a:srgbClr val="D8C8CE"/>
                </a:solidFill>
                <a:latin typeface="Calibri"/>
              </a:defRPr>
            </a:pPr>
            <a:r>
              <a:t>Measure post-intervention waste reduction and audit validated rupee savings with hotel GM and finance leadership.</a:t>
            </a:r>
          </a:p>
        </p:txBody>
      </p:sp>
      <p:sp>
        <p:nvSpPr>
          <p:cNvPr id="11" name="Rounded Rectangle 10"/>
          <p:cNvSpPr/>
          <p:nvPr/>
        </p:nvSpPr>
        <p:spPr>
          <a:xfrm>
            <a:off x="7040880" y="2331720"/>
            <a:ext cx="4370832" cy="3794760"/>
          </a:xfrm>
          <a:prstGeom prst="roundRect">
            <a:avLst/>
          </a:prstGeom>
          <a:solidFill>
            <a:srgbClr val="361C27"/>
          </a:solidFill>
          <a:ln w="12700">
            <a:solidFill>
              <a:srgbClr val="522C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_1_pic_1.png"/>
          <p:cNvPicPr>
            <a:picLocks noChangeAspect="1"/>
          </p:cNvPicPr>
          <p:nvPr/>
        </p:nvPicPr>
        <p:blipFill>
          <a:blip r:embed="rId2"/>
          <a:stretch>
            <a:fillRect/>
          </a:stretch>
        </p:blipFill>
        <p:spPr>
          <a:xfrm>
            <a:off x="7315200" y="2560320"/>
            <a:ext cx="1097280" cy="886968"/>
          </a:xfrm>
          <a:prstGeom prst="rect">
            <a:avLst/>
          </a:prstGeom>
        </p:spPr>
      </p:pic>
      <p:sp>
        <p:nvSpPr>
          <p:cNvPr id="13" name="TextBox 12"/>
          <p:cNvSpPr txBox="1"/>
          <p:nvPr/>
        </p:nvSpPr>
        <p:spPr>
          <a:xfrm>
            <a:off x="7315200" y="3566160"/>
            <a:ext cx="3840480" cy="365760"/>
          </a:xfrm>
          <a:prstGeom prst="rect">
            <a:avLst/>
          </a:prstGeom>
          <a:noFill/>
        </p:spPr>
        <p:txBody>
          <a:bodyPr wrap="none" lIns="0" tIns="0" rIns="0" bIns="0">
            <a:spAutoFit/>
          </a:bodyPr>
          <a:lstStyle/>
          <a:p>
            <a:pPr>
              <a:defRPr sz="2000" b="1">
                <a:solidFill>
                  <a:srgbClr val="FFFFFF"/>
                </a:solidFill>
                <a:latin typeface="Georgia"/>
              </a:defRPr>
            </a:pPr>
            <a:r>
              <a:t>PlateSight Intelligence</a:t>
            </a:r>
          </a:p>
        </p:txBody>
      </p:sp>
      <p:sp>
        <p:nvSpPr>
          <p:cNvPr id="14" name="TextBox 13"/>
          <p:cNvSpPr txBox="1"/>
          <p:nvPr/>
        </p:nvSpPr>
        <p:spPr>
          <a:xfrm>
            <a:off x="7315200" y="3977639"/>
            <a:ext cx="3840480" cy="2011680"/>
          </a:xfrm>
          <a:prstGeom prst="rect">
            <a:avLst/>
          </a:prstGeom>
          <a:noFill/>
        </p:spPr>
        <p:txBody>
          <a:bodyPr wrap="square" lIns="0" tIns="0" rIns="0" bIns="0">
            <a:spAutoFit/>
          </a:bodyPr>
          <a:lstStyle/>
          <a:p>
            <a:pPr>
              <a:defRPr sz="1150">
                <a:solidFill>
                  <a:srgbClr val="D8C8CE"/>
                </a:solidFill>
                <a:latin typeface="Calibri"/>
              </a:defRPr>
            </a:pPr>
            <a:r>
              <a:t>Building a smarter, more measurable approach to banquet food waste.</a:t>
            </a:r>
          </a:p>
          <a:p>
            <a:pPr>
              <a:spcBef>
                <a:spcPts val="500"/>
              </a:spcBef>
              <a:defRPr sz="1000">
                <a:solidFill>
                  <a:srgbClr val="C79943"/>
                </a:solidFill>
                <a:latin typeface="Calibri"/>
              </a:defRPr>
            </a:pPr>
            <a:r>
              <a:t>Web Portal: ai.platesight.in/analytics</a:t>
            </a:r>
          </a:p>
          <a:p>
            <a:pPr>
              <a:spcBef>
                <a:spcPts val="500"/>
              </a:spcBef>
              <a:defRPr sz="1000">
                <a:solidFill>
                  <a:srgbClr val="C79943"/>
                </a:solidFill>
                <a:latin typeface="Calibri"/>
              </a:defRPr>
            </a:pPr>
            <a:r>
              <a:t>Email Contact: gandhaar.joshi@platesight.in</a:t>
            </a:r>
          </a:p>
          <a:p>
            <a:pPr>
              <a:spcBef>
                <a:spcPts val="500"/>
              </a:spcBef>
              <a:defRPr sz="1000">
                <a:solidFill>
                  <a:srgbClr val="C79943"/>
                </a:solidFill>
                <a:latin typeface="Calibri"/>
              </a:defRPr>
            </a:pPr>
            <a:r>
              <a:t>Presenter: Gandhaar Joshi, Co-Founder</a:t>
            </a:r>
          </a:p>
          <a:p>
            <a:pPr>
              <a:spcBef>
                <a:spcPts val="500"/>
              </a:spcBef>
              <a:defRPr sz="1000">
                <a:solidFill>
                  <a:srgbClr val="FFFFFF"/>
                </a:solidFill>
                <a:latin typeface="Calibri"/>
              </a:defRPr>
            </a:pPr>
            <a:r>
              <a:t>Partner Property: Dolphin Group of Hotels • Ramoji Film City</a:t>
            </a:r>
          </a:p>
        </p:txBody>
      </p:sp>
      <p:sp>
        <p:nvSpPr>
          <p:cNvPr id="15" name="Rectangle 14"/>
          <p:cNvSpPr/>
          <p:nvPr/>
        </p:nvSpPr>
        <p:spPr>
          <a:xfrm>
            <a:off x="777240" y="6263640"/>
            <a:ext cx="10634472" cy="9144"/>
          </a:xfrm>
          <a:prstGeom prst="rect">
            <a:avLst/>
          </a:prstGeom>
          <a:solidFill>
            <a:srgbClr val="52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336792"/>
            <a:ext cx="2286000" cy="274320"/>
          </a:xfrm>
          <a:prstGeom prst="rect">
            <a:avLst/>
          </a:prstGeom>
          <a:noFill/>
        </p:spPr>
        <p:txBody>
          <a:bodyPr wrap="none" lIns="0" tIns="0" rIns="0" bIns="0">
            <a:spAutoFit/>
          </a:bodyPr>
          <a:lstStyle/>
          <a:p>
            <a:pPr>
              <a:defRPr sz="1000" b="1">
                <a:solidFill>
                  <a:srgbClr val="FFFFFF"/>
                </a:solidFill>
                <a:latin typeface="Georgia"/>
              </a:defRPr>
            </a:pPr>
            <a:r>
              <a:t>PlateSight</a:t>
            </a:r>
          </a:p>
        </p:txBody>
      </p:sp>
      <p:sp>
        <p:nvSpPr>
          <p:cNvPr id="17" name="TextBox 16"/>
          <p:cNvSpPr txBox="1"/>
          <p:nvPr/>
        </p:nvSpPr>
        <p:spPr>
          <a:xfrm>
            <a:off x="3200400" y="6336792"/>
            <a:ext cx="5788152" cy="274320"/>
          </a:xfrm>
          <a:prstGeom prst="rect">
            <a:avLst/>
          </a:prstGeom>
          <a:noFill/>
        </p:spPr>
        <p:txBody>
          <a:bodyPr wrap="none" lIns="0" tIns="0" rIns="0" bIns="0">
            <a:spAutoFit/>
          </a:bodyPr>
          <a:lstStyle/>
          <a:p>
            <a:pPr>
              <a:defRPr sz="950">
                <a:solidFill>
                  <a:srgbClr val="D8C8CE"/>
                </a:solidFill>
                <a:latin typeface="Calibri"/>
              </a:defRPr>
            </a:pPr>
            <a:r>
              <a:t>AI-Powered Food Waste Monitoring — Prepared for Dolphin Group of Hotels</a:t>
            </a:r>
          </a:p>
        </p:txBody>
      </p:sp>
      <p:sp>
        <p:nvSpPr>
          <p:cNvPr id="18" name="TextBox 17"/>
          <p:cNvSpPr txBox="1"/>
          <p:nvPr/>
        </p:nvSpPr>
        <p:spPr>
          <a:xfrm>
            <a:off x="9601200" y="6336792"/>
            <a:ext cx="1810512" cy="274320"/>
          </a:xfrm>
          <a:prstGeom prst="rect">
            <a:avLst/>
          </a:prstGeom>
          <a:noFill/>
        </p:spPr>
        <p:txBody>
          <a:bodyPr wrap="none" lIns="0" tIns="0" rIns="0" bIns="0">
            <a:spAutoFit/>
          </a:bodyPr>
          <a:lstStyle/>
          <a:p>
            <a:pPr algn="r">
              <a:defRPr sz="950">
                <a:solidFill>
                  <a:srgbClr val="D8C8CE"/>
                </a:solidFill>
                <a:latin typeface="Calibri"/>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